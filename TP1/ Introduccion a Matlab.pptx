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0" r:id="rId3"/>
    <p:sldId id="258" r:id="rId4"/>
    <p:sldId id="259" r:id="rId5"/>
    <p:sldId id="261" r:id="rId6"/>
    <p:sldId id="262" r:id="rId7"/>
    <p:sldId id="263" r:id="rId8"/>
    <p:sldId id="264" r:id="rId9"/>
    <p:sldId id="265" r:id="rId10"/>
    <p:sldId id="272" r:id="rId11"/>
    <p:sldId id="266" r:id="rId12"/>
    <p:sldId id="267" r:id="rId13"/>
    <p:sldId id="268" r:id="rId14"/>
    <p:sldId id="269" r:id="rId15"/>
    <p:sldId id="270" r:id="rId16"/>
    <p:sldId id="271" r:id="rId17"/>
  </p:sldIdLst>
  <p:sldSz cx="12192000" cy="6858000"/>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10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endParaRPr lang="es-AR"/>
          </a:p>
        </p:txBody>
      </p:sp>
      <p:sp>
        <p:nvSpPr>
          <p:cNvPr id="4" name="Marcador de fecha 3"/>
          <p:cNvSpPr>
            <a:spLocks noGrp="1"/>
          </p:cNvSpPr>
          <p:nvPr>
            <p:ph type="dt" sz="half" idx="10"/>
          </p:nvPr>
        </p:nvSpPr>
        <p:spPr/>
        <p:txBody>
          <a:bodyPr/>
          <a:lstStyle/>
          <a:p>
            <a:fld id="{122C414C-D702-4E3C-BC2D-24602C7F376F}" type="datetimeFigureOut">
              <a:rPr lang="es-AR" smtClean="0"/>
              <a:t>6/7/2026</a:t>
            </a:fld>
            <a:endParaRPr lang="es-AR"/>
          </a:p>
        </p:txBody>
      </p:sp>
      <p:sp>
        <p:nvSpPr>
          <p:cNvPr id="5" name="Marcador de pie de página 4"/>
          <p:cNvSpPr>
            <a:spLocks noGrp="1"/>
          </p:cNvSpPr>
          <p:nvPr>
            <p:ph type="ftr" sz="quarter" idx="11"/>
          </p:nvPr>
        </p:nvSpPr>
        <p:spPr/>
        <p:txBody>
          <a:bodyPr/>
          <a:lstStyle/>
          <a:p>
            <a:endParaRPr lang="es-AR"/>
          </a:p>
        </p:txBody>
      </p:sp>
      <p:sp>
        <p:nvSpPr>
          <p:cNvPr id="6" name="Marcador de número de diapositiva 5"/>
          <p:cNvSpPr>
            <a:spLocks noGrp="1"/>
          </p:cNvSpPr>
          <p:nvPr>
            <p:ph type="sldNum" sz="quarter" idx="12"/>
          </p:nvPr>
        </p:nvSpPr>
        <p:spPr/>
        <p:txBody>
          <a:bodyPr/>
          <a:lstStyle/>
          <a:p>
            <a:fld id="{69915C6A-F5F7-430A-908C-E4EC70AEB414}" type="slidenum">
              <a:rPr lang="es-AR" smtClean="0"/>
              <a:t>‹Nº›</a:t>
            </a:fld>
            <a:endParaRPr lang="es-AR"/>
          </a:p>
        </p:txBody>
      </p:sp>
    </p:spTree>
    <p:extLst>
      <p:ext uri="{BB962C8B-B14F-4D97-AF65-F5344CB8AC3E}">
        <p14:creationId xmlns:p14="http://schemas.microsoft.com/office/powerpoint/2010/main" val="40779096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AR"/>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p:cNvSpPr>
            <a:spLocks noGrp="1"/>
          </p:cNvSpPr>
          <p:nvPr>
            <p:ph type="dt" sz="half" idx="10"/>
          </p:nvPr>
        </p:nvSpPr>
        <p:spPr/>
        <p:txBody>
          <a:bodyPr/>
          <a:lstStyle/>
          <a:p>
            <a:fld id="{122C414C-D702-4E3C-BC2D-24602C7F376F}" type="datetimeFigureOut">
              <a:rPr lang="es-AR" smtClean="0"/>
              <a:t>6/7/2026</a:t>
            </a:fld>
            <a:endParaRPr lang="es-AR"/>
          </a:p>
        </p:txBody>
      </p:sp>
      <p:sp>
        <p:nvSpPr>
          <p:cNvPr id="5" name="Marcador de pie de página 4"/>
          <p:cNvSpPr>
            <a:spLocks noGrp="1"/>
          </p:cNvSpPr>
          <p:nvPr>
            <p:ph type="ftr" sz="quarter" idx="11"/>
          </p:nvPr>
        </p:nvSpPr>
        <p:spPr/>
        <p:txBody>
          <a:bodyPr/>
          <a:lstStyle/>
          <a:p>
            <a:endParaRPr lang="es-AR"/>
          </a:p>
        </p:txBody>
      </p:sp>
      <p:sp>
        <p:nvSpPr>
          <p:cNvPr id="6" name="Marcador de número de diapositiva 5"/>
          <p:cNvSpPr>
            <a:spLocks noGrp="1"/>
          </p:cNvSpPr>
          <p:nvPr>
            <p:ph type="sldNum" sz="quarter" idx="12"/>
          </p:nvPr>
        </p:nvSpPr>
        <p:spPr/>
        <p:txBody>
          <a:bodyPr/>
          <a:lstStyle/>
          <a:p>
            <a:fld id="{69915C6A-F5F7-430A-908C-E4EC70AEB414}" type="slidenum">
              <a:rPr lang="es-AR" smtClean="0"/>
              <a:t>‹Nº›</a:t>
            </a:fld>
            <a:endParaRPr lang="es-AR"/>
          </a:p>
        </p:txBody>
      </p:sp>
    </p:spTree>
    <p:extLst>
      <p:ext uri="{BB962C8B-B14F-4D97-AF65-F5344CB8AC3E}">
        <p14:creationId xmlns:p14="http://schemas.microsoft.com/office/powerpoint/2010/main" val="5811363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122C414C-D702-4E3C-BC2D-24602C7F376F}" type="datetimeFigureOut">
              <a:rPr lang="es-AR" smtClean="0"/>
              <a:t>6/7/2026</a:t>
            </a:fld>
            <a:endParaRPr lang="es-AR"/>
          </a:p>
        </p:txBody>
      </p:sp>
      <p:sp>
        <p:nvSpPr>
          <p:cNvPr id="5" name="Marcador de pie de página 4"/>
          <p:cNvSpPr>
            <a:spLocks noGrp="1"/>
          </p:cNvSpPr>
          <p:nvPr>
            <p:ph type="ftr" sz="quarter" idx="11"/>
          </p:nvPr>
        </p:nvSpPr>
        <p:spPr/>
        <p:txBody>
          <a:bodyPr/>
          <a:lstStyle/>
          <a:p>
            <a:endParaRPr lang="es-AR"/>
          </a:p>
        </p:txBody>
      </p:sp>
      <p:sp>
        <p:nvSpPr>
          <p:cNvPr id="6" name="Marcador de número de diapositiva 5"/>
          <p:cNvSpPr>
            <a:spLocks noGrp="1"/>
          </p:cNvSpPr>
          <p:nvPr>
            <p:ph type="sldNum" sz="quarter" idx="12"/>
          </p:nvPr>
        </p:nvSpPr>
        <p:spPr/>
        <p:txBody>
          <a:bodyPr/>
          <a:lstStyle/>
          <a:p>
            <a:fld id="{69915C6A-F5F7-430A-908C-E4EC70AEB414}" type="slidenum">
              <a:rPr lang="es-AR" smtClean="0"/>
              <a:t>‹Nº›</a:t>
            </a:fld>
            <a:endParaRPr lang="es-AR"/>
          </a:p>
        </p:txBody>
      </p:sp>
    </p:spTree>
    <p:extLst>
      <p:ext uri="{BB962C8B-B14F-4D97-AF65-F5344CB8AC3E}">
        <p14:creationId xmlns:p14="http://schemas.microsoft.com/office/powerpoint/2010/main" val="31206690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AR"/>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fecha 4"/>
          <p:cNvSpPr>
            <a:spLocks noGrp="1"/>
          </p:cNvSpPr>
          <p:nvPr>
            <p:ph type="dt" sz="half" idx="10"/>
          </p:nvPr>
        </p:nvSpPr>
        <p:spPr/>
        <p:txBody>
          <a:bodyPr/>
          <a:lstStyle/>
          <a:p>
            <a:fld id="{122C414C-D702-4E3C-BC2D-24602C7F376F}" type="datetimeFigureOut">
              <a:rPr lang="es-AR" smtClean="0"/>
              <a:t>6/7/2026</a:t>
            </a:fld>
            <a:endParaRPr lang="es-AR"/>
          </a:p>
        </p:txBody>
      </p:sp>
      <p:sp>
        <p:nvSpPr>
          <p:cNvPr id="6" name="Marcador de pie de página 5"/>
          <p:cNvSpPr>
            <a:spLocks noGrp="1"/>
          </p:cNvSpPr>
          <p:nvPr>
            <p:ph type="ftr" sz="quarter" idx="11"/>
          </p:nvPr>
        </p:nvSpPr>
        <p:spPr/>
        <p:txBody>
          <a:bodyPr/>
          <a:lstStyle/>
          <a:p>
            <a:endParaRPr lang="es-AR"/>
          </a:p>
        </p:txBody>
      </p:sp>
      <p:sp>
        <p:nvSpPr>
          <p:cNvPr id="7" name="Marcador de número de diapositiva 6"/>
          <p:cNvSpPr>
            <a:spLocks noGrp="1"/>
          </p:cNvSpPr>
          <p:nvPr>
            <p:ph type="sldNum" sz="quarter" idx="12"/>
          </p:nvPr>
        </p:nvSpPr>
        <p:spPr/>
        <p:txBody>
          <a:bodyPr/>
          <a:lstStyle/>
          <a:p>
            <a:fld id="{69915C6A-F5F7-430A-908C-E4EC70AEB414}" type="slidenum">
              <a:rPr lang="es-AR" smtClean="0"/>
              <a:t>‹Nº›</a:t>
            </a:fld>
            <a:endParaRPr lang="es-AR"/>
          </a:p>
        </p:txBody>
      </p:sp>
    </p:spTree>
    <p:extLst>
      <p:ext uri="{BB962C8B-B14F-4D97-AF65-F5344CB8AC3E}">
        <p14:creationId xmlns:p14="http://schemas.microsoft.com/office/powerpoint/2010/main" val="41899212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7" name="Marcador de fecha 6"/>
          <p:cNvSpPr>
            <a:spLocks noGrp="1"/>
          </p:cNvSpPr>
          <p:nvPr>
            <p:ph type="dt" sz="half" idx="10"/>
          </p:nvPr>
        </p:nvSpPr>
        <p:spPr/>
        <p:txBody>
          <a:bodyPr/>
          <a:lstStyle/>
          <a:p>
            <a:fld id="{122C414C-D702-4E3C-BC2D-24602C7F376F}" type="datetimeFigureOut">
              <a:rPr lang="es-AR" smtClean="0"/>
              <a:t>6/7/2026</a:t>
            </a:fld>
            <a:endParaRPr lang="es-AR"/>
          </a:p>
        </p:txBody>
      </p:sp>
      <p:sp>
        <p:nvSpPr>
          <p:cNvPr id="8" name="Marcador de pie de página 7"/>
          <p:cNvSpPr>
            <a:spLocks noGrp="1"/>
          </p:cNvSpPr>
          <p:nvPr>
            <p:ph type="ftr" sz="quarter" idx="11"/>
          </p:nvPr>
        </p:nvSpPr>
        <p:spPr/>
        <p:txBody>
          <a:bodyPr/>
          <a:lstStyle/>
          <a:p>
            <a:endParaRPr lang="es-AR"/>
          </a:p>
        </p:txBody>
      </p:sp>
      <p:sp>
        <p:nvSpPr>
          <p:cNvPr id="9" name="Marcador de número de diapositiva 8"/>
          <p:cNvSpPr>
            <a:spLocks noGrp="1"/>
          </p:cNvSpPr>
          <p:nvPr>
            <p:ph type="sldNum" sz="quarter" idx="12"/>
          </p:nvPr>
        </p:nvSpPr>
        <p:spPr/>
        <p:txBody>
          <a:bodyPr/>
          <a:lstStyle/>
          <a:p>
            <a:fld id="{69915C6A-F5F7-430A-908C-E4EC70AEB414}" type="slidenum">
              <a:rPr lang="es-AR" smtClean="0"/>
              <a:t>‹Nº›</a:t>
            </a:fld>
            <a:endParaRPr lang="es-AR"/>
          </a:p>
        </p:txBody>
      </p:sp>
    </p:spTree>
    <p:extLst>
      <p:ext uri="{BB962C8B-B14F-4D97-AF65-F5344CB8AC3E}">
        <p14:creationId xmlns:p14="http://schemas.microsoft.com/office/powerpoint/2010/main" val="39158177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AR"/>
          </a:p>
        </p:txBody>
      </p:sp>
      <p:sp>
        <p:nvSpPr>
          <p:cNvPr id="3" name="Marcador de fecha 2"/>
          <p:cNvSpPr>
            <a:spLocks noGrp="1"/>
          </p:cNvSpPr>
          <p:nvPr>
            <p:ph type="dt" sz="half" idx="10"/>
          </p:nvPr>
        </p:nvSpPr>
        <p:spPr/>
        <p:txBody>
          <a:bodyPr/>
          <a:lstStyle/>
          <a:p>
            <a:fld id="{122C414C-D702-4E3C-BC2D-24602C7F376F}" type="datetimeFigureOut">
              <a:rPr lang="es-AR" smtClean="0"/>
              <a:t>6/7/2026</a:t>
            </a:fld>
            <a:endParaRPr lang="es-AR"/>
          </a:p>
        </p:txBody>
      </p:sp>
      <p:sp>
        <p:nvSpPr>
          <p:cNvPr id="4" name="Marcador de pie de página 3"/>
          <p:cNvSpPr>
            <a:spLocks noGrp="1"/>
          </p:cNvSpPr>
          <p:nvPr>
            <p:ph type="ftr" sz="quarter" idx="11"/>
          </p:nvPr>
        </p:nvSpPr>
        <p:spPr/>
        <p:txBody>
          <a:bodyPr/>
          <a:lstStyle/>
          <a:p>
            <a:endParaRPr lang="es-AR"/>
          </a:p>
        </p:txBody>
      </p:sp>
      <p:sp>
        <p:nvSpPr>
          <p:cNvPr id="5" name="Marcador de número de diapositiva 4"/>
          <p:cNvSpPr>
            <a:spLocks noGrp="1"/>
          </p:cNvSpPr>
          <p:nvPr>
            <p:ph type="sldNum" sz="quarter" idx="12"/>
          </p:nvPr>
        </p:nvSpPr>
        <p:spPr/>
        <p:txBody>
          <a:bodyPr/>
          <a:lstStyle/>
          <a:p>
            <a:fld id="{69915C6A-F5F7-430A-908C-E4EC70AEB414}" type="slidenum">
              <a:rPr lang="es-AR" smtClean="0"/>
              <a:t>‹Nº›</a:t>
            </a:fld>
            <a:endParaRPr lang="es-AR"/>
          </a:p>
        </p:txBody>
      </p:sp>
    </p:spTree>
    <p:extLst>
      <p:ext uri="{BB962C8B-B14F-4D97-AF65-F5344CB8AC3E}">
        <p14:creationId xmlns:p14="http://schemas.microsoft.com/office/powerpoint/2010/main" val="2336941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122C414C-D702-4E3C-BC2D-24602C7F376F}" type="datetimeFigureOut">
              <a:rPr lang="es-AR" smtClean="0"/>
              <a:t>6/7/2026</a:t>
            </a:fld>
            <a:endParaRPr lang="es-AR"/>
          </a:p>
        </p:txBody>
      </p:sp>
      <p:sp>
        <p:nvSpPr>
          <p:cNvPr id="3" name="Marcador de pie de página 2"/>
          <p:cNvSpPr>
            <a:spLocks noGrp="1"/>
          </p:cNvSpPr>
          <p:nvPr>
            <p:ph type="ftr" sz="quarter" idx="11"/>
          </p:nvPr>
        </p:nvSpPr>
        <p:spPr/>
        <p:txBody>
          <a:bodyPr/>
          <a:lstStyle/>
          <a:p>
            <a:endParaRPr lang="es-AR"/>
          </a:p>
        </p:txBody>
      </p:sp>
      <p:sp>
        <p:nvSpPr>
          <p:cNvPr id="4" name="Marcador de número de diapositiva 3"/>
          <p:cNvSpPr>
            <a:spLocks noGrp="1"/>
          </p:cNvSpPr>
          <p:nvPr>
            <p:ph type="sldNum" sz="quarter" idx="12"/>
          </p:nvPr>
        </p:nvSpPr>
        <p:spPr/>
        <p:txBody>
          <a:bodyPr/>
          <a:lstStyle/>
          <a:p>
            <a:fld id="{69915C6A-F5F7-430A-908C-E4EC70AEB414}" type="slidenum">
              <a:rPr lang="es-AR" smtClean="0"/>
              <a:t>‹Nº›</a:t>
            </a:fld>
            <a:endParaRPr lang="es-AR"/>
          </a:p>
        </p:txBody>
      </p:sp>
    </p:spTree>
    <p:extLst>
      <p:ext uri="{BB962C8B-B14F-4D97-AF65-F5344CB8AC3E}">
        <p14:creationId xmlns:p14="http://schemas.microsoft.com/office/powerpoint/2010/main" val="26219882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122C414C-D702-4E3C-BC2D-24602C7F376F}" type="datetimeFigureOut">
              <a:rPr lang="es-AR" smtClean="0"/>
              <a:t>6/7/2026</a:t>
            </a:fld>
            <a:endParaRPr lang="es-AR"/>
          </a:p>
        </p:txBody>
      </p:sp>
      <p:sp>
        <p:nvSpPr>
          <p:cNvPr id="6" name="Marcador de pie de página 5"/>
          <p:cNvSpPr>
            <a:spLocks noGrp="1"/>
          </p:cNvSpPr>
          <p:nvPr>
            <p:ph type="ftr" sz="quarter" idx="11"/>
          </p:nvPr>
        </p:nvSpPr>
        <p:spPr/>
        <p:txBody>
          <a:bodyPr/>
          <a:lstStyle/>
          <a:p>
            <a:endParaRPr lang="es-AR"/>
          </a:p>
        </p:txBody>
      </p:sp>
      <p:sp>
        <p:nvSpPr>
          <p:cNvPr id="7" name="Marcador de número de diapositiva 6"/>
          <p:cNvSpPr>
            <a:spLocks noGrp="1"/>
          </p:cNvSpPr>
          <p:nvPr>
            <p:ph type="sldNum" sz="quarter" idx="12"/>
          </p:nvPr>
        </p:nvSpPr>
        <p:spPr/>
        <p:txBody>
          <a:bodyPr/>
          <a:lstStyle/>
          <a:p>
            <a:fld id="{69915C6A-F5F7-430A-908C-E4EC70AEB414}" type="slidenum">
              <a:rPr lang="es-AR" smtClean="0"/>
              <a:t>‹Nº›</a:t>
            </a:fld>
            <a:endParaRPr lang="es-AR"/>
          </a:p>
        </p:txBody>
      </p:sp>
    </p:spTree>
    <p:extLst>
      <p:ext uri="{BB962C8B-B14F-4D97-AF65-F5344CB8AC3E}">
        <p14:creationId xmlns:p14="http://schemas.microsoft.com/office/powerpoint/2010/main" val="1159971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122C414C-D702-4E3C-BC2D-24602C7F376F}" type="datetimeFigureOut">
              <a:rPr lang="es-AR" smtClean="0"/>
              <a:t>6/7/2026</a:t>
            </a:fld>
            <a:endParaRPr lang="es-AR"/>
          </a:p>
        </p:txBody>
      </p:sp>
      <p:sp>
        <p:nvSpPr>
          <p:cNvPr id="6" name="Marcador de pie de página 5"/>
          <p:cNvSpPr>
            <a:spLocks noGrp="1"/>
          </p:cNvSpPr>
          <p:nvPr>
            <p:ph type="ftr" sz="quarter" idx="11"/>
          </p:nvPr>
        </p:nvSpPr>
        <p:spPr/>
        <p:txBody>
          <a:bodyPr/>
          <a:lstStyle/>
          <a:p>
            <a:endParaRPr lang="es-AR"/>
          </a:p>
        </p:txBody>
      </p:sp>
      <p:sp>
        <p:nvSpPr>
          <p:cNvPr id="7" name="Marcador de número de diapositiva 6"/>
          <p:cNvSpPr>
            <a:spLocks noGrp="1"/>
          </p:cNvSpPr>
          <p:nvPr>
            <p:ph type="sldNum" sz="quarter" idx="12"/>
          </p:nvPr>
        </p:nvSpPr>
        <p:spPr/>
        <p:txBody>
          <a:bodyPr/>
          <a:lstStyle/>
          <a:p>
            <a:fld id="{69915C6A-F5F7-430A-908C-E4EC70AEB414}" type="slidenum">
              <a:rPr lang="es-AR" smtClean="0"/>
              <a:t>‹Nº›</a:t>
            </a:fld>
            <a:endParaRPr lang="es-AR"/>
          </a:p>
        </p:txBody>
      </p:sp>
    </p:spTree>
    <p:extLst>
      <p:ext uri="{BB962C8B-B14F-4D97-AF65-F5344CB8AC3E}">
        <p14:creationId xmlns:p14="http://schemas.microsoft.com/office/powerpoint/2010/main" val="32523462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AR"/>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p:cNvSpPr>
            <a:spLocks noGrp="1"/>
          </p:cNvSpPr>
          <p:nvPr>
            <p:ph type="dt" sz="half" idx="10"/>
          </p:nvPr>
        </p:nvSpPr>
        <p:spPr/>
        <p:txBody>
          <a:bodyPr/>
          <a:lstStyle/>
          <a:p>
            <a:fld id="{122C414C-D702-4E3C-BC2D-24602C7F376F}" type="datetimeFigureOut">
              <a:rPr lang="es-AR" smtClean="0"/>
              <a:t>6/7/2026</a:t>
            </a:fld>
            <a:endParaRPr lang="es-AR"/>
          </a:p>
        </p:txBody>
      </p:sp>
      <p:sp>
        <p:nvSpPr>
          <p:cNvPr id="5" name="Marcador de pie de página 4"/>
          <p:cNvSpPr>
            <a:spLocks noGrp="1"/>
          </p:cNvSpPr>
          <p:nvPr>
            <p:ph type="ftr" sz="quarter" idx="11"/>
          </p:nvPr>
        </p:nvSpPr>
        <p:spPr/>
        <p:txBody>
          <a:bodyPr/>
          <a:lstStyle/>
          <a:p>
            <a:endParaRPr lang="es-AR"/>
          </a:p>
        </p:txBody>
      </p:sp>
      <p:sp>
        <p:nvSpPr>
          <p:cNvPr id="6" name="Marcador de número de diapositiva 5"/>
          <p:cNvSpPr>
            <a:spLocks noGrp="1"/>
          </p:cNvSpPr>
          <p:nvPr>
            <p:ph type="sldNum" sz="quarter" idx="12"/>
          </p:nvPr>
        </p:nvSpPr>
        <p:spPr/>
        <p:txBody>
          <a:bodyPr/>
          <a:lstStyle/>
          <a:p>
            <a:fld id="{69915C6A-F5F7-430A-908C-E4EC70AEB414}" type="slidenum">
              <a:rPr lang="es-AR" smtClean="0"/>
              <a:t>‹Nº›</a:t>
            </a:fld>
            <a:endParaRPr lang="es-AR"/>
          </a:p>
        </p:txBody>
      </p:sp>
    </p:spTree>
    <p:extLst>
      <p:ext uri="{BB962C8B-B14F-4D97-AF65-F5344CB8AC3E}">
        <p14:creationId xmlns:p14="http://schemas.microsoft.com/office/powerpoint/2010/main" val="12424386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p:cNvSpPr>
            <a:spLocks noGrp="1"/>
          </p:cNvSpPr>
          <p:nvPr>
            <p:ph type="dt" sz="half" idx="10"/>
          </p:nvPr>
        </p:nvSpPr>
        <p:spPr/>
        <p:txBody>
          <a:bodyPr/>
          <a:lstStyle/>
          <a:p>
            <a:fld id="{122C414C-D702-4E3C-BC2D-24602C7F376F}" type="datetimeFigureOut">
              <a:rPr lang="es-AR" smtClean="0"/>
              <a:t>6/7/2026</a:t>
            </a:fld>
            <a:endParaRPr lang="es-AR"/>
          </a:p>
        </p:txBody>
      </p:sp>
      <p:sp>
        <p:nvSpPr>
          <p:cNvPr id="5" name="Marcador de pie de página 4"/>
          <p:cNvSpPr>
            <a:spLocks noGrp="1"/>
          </p:cNvSpPr>
          <p:nvPr>
            <p:ph type="ftr" sz="quarter" idx="11"/>
          </p:nvPr>
        </p:nvSpPr>
        <p:spPr/>
        <p:txBody>
          <a:bodyPr/>
          <a:lstStyle/>
          <a:p>
            <a:endParaRPr lang="es-AR"/>
          </a:p>
        </p:txBody>
      </p:sp>
      <p:sp>
        <p:nvSpPr>
          <p:cNvPr id="6" name="Marcador de número de diapositiva 5"/>
          <p:cNvSpPr>
            <a:spLocks noGrp="1"/>
          </p:cNvSpPr>
          <p:nvPr>
            <p:ph type="sldNum" sz="quarter" idx="12"/>
          </p:nvPr>
        </p:nvSpPr>
        <p:spPr/>
        <p:txBody>
          <a:bodyPr/>
          <a:lstStyle/>
          <a:p>
            <a:fld id="{69915C6A-F5F7-430A-908C-E4EC70AEB414}" type="slidenum">
              <a:rPr lang="es-AR" smtClean="0"/>
              <a:t>‹Nº›</a:t>
            </a:fld>
            <a:endParaRPr lang="es-AR"/>
          </a:p>
        </p:txBody>
      </p:sp>
    </p:spTree>
    <p:extLst>
      <p:ext uri="{BB962C8B-B14F-4D97-AF65-F5344CB8AC3E}">
        <p14:creationId xmlns:p14="http://schemas.microsoft.com/office/powerpoint/2010/main" val="17757765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2C414C-D702-4E3C-BC2D-24602C7F376F}" type="datetimeFigureOut">
              <a:rPr lang="es-AR" smtClean="0"/>
              <a:t>6/7/2026</a:t>
            </a:fld>
            <a:endParaRPr lang="es-AR"/>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AR"/>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915C6A-F5F7-430A-908C-E4EC70AEB414}" type="slidenum">
              <a:rPr lang="es-AR" smtClean="0"/>
              <a:t>‹Nº›</a:t>
            </a:fld>
            <a:endParaRPr lang="es-AR"/>
          </a:p>
        </p:txBody>
      </p:sp>
    </p:spTree>
    <p:extLst>
      <p:ext uri="{BB962C8B-B14F-4D97-AF65-F5344CB8AC3E}">
        <p14:creationId xmlns:p14="http://schemas.microsoft.com/office/powerpoint/2010/main" val="23583125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0" y="1"/>
            <a:ext cx="12192000" cy="1071418"/>
          </a:xfrm>
        </p:spPr>
        <p:txBody>
          <a:bodyPr>
            <a:normAutofit/>
          </a:bodyPr>
          <a:lstStyle/>
          <a:p>
            <a:r>
              <a:rPr lang="es-AR" sz="4000" b="1" dirty="0"/>
              <a:t>Introducción a Matlab</a:t>
            </a:r>
          </a:p>
        </p:txBody>
      </p:sp>
      <p:sp>
        <p:nvSpPr>
          <p:cNvPr id="4" name="CuadroTexto 3"/>
          <p:cNvSpPr txBox="1"/>
          <p:nvPr/>
        </p:nvSpPr>
        <p:spPr>
          <a:xfrm>
            <a:off x="83127" y="775856"/>
            <a:ext cx="11859491" cy="5355312"/>
          </a:xfrm>
          <a:prstGeom prst="rect">
            <a:avLst/>
          </a:prstGeom>
          <a:noFill/>
        </p:spPr>
        <p:txBody>
          <a:bodyPr wrap="square" rtlCol="0">
            <a:spAutoFit/>
          </a:bodyPr>
          <a:lstStyle/>
          <a:p>
            <a:r>
              <a:rPr lang="es-AR" sz="2200" dirty="0"/>
              <a:t>Primero pueden usar el </a:t>
            </a:r>
            <a:r>
              <a:rPr lang="es-AR" sz="2200" dirty="0" err="1"/>
              <a:t>prompt</a:t>
            </a:r>
            <a:r>
              <a:rPr lang="es-AR" sz="2200" dirty="0"/>
              <a:t> como una calculadora:</a:t>
            </a:r>
          </a:p>
          <a:p>
            <a:r>
              <a:rPr lang="es-AR" sz="2200" dirty="0"/>
              <a:t>7+2 </a:t>
            </a:r>
            <a:r>
              <a:rPr lang="es-AR" sz="2200" dirty="0" err="1"/>
              <a:t>ans</a:t>
            </a:r>
            <a:r>
              <a:rPr lang="es-AR" sz="2200" dirty="0"/>
              <a:t> = 9 la respuesta se almacena en una variable llamada “</a:t>
            </a:r>
            <a:r>
              <a:rPr lang="es-AR" sz="2200" dirty="0" err="1"/>
              <a:t>ans</a:t>
            </a:r>
            <a:r>
              <a:rPr lang="es-AR" sz="2200" dirty="0"/>
              <a:t>”, que puede ser usada por ejemplo:</a:t>
            </a:r>
          </a:p>
          <a:p>
            <a:r>
              <a:rPr lang="es-AR" sz="2200" dirty="0" err="1"/>
              <a:t>ans</a:t>
            </a:r>
            <a:r>
              <a:rPr lang="es-AR" sz="2200" dirty="0"/>
              <a:t>*</a:t>
            </a:r>
            <a:r>
              <a:rPr lang="es-AR" sz="2200" dirty="0" err="1"/>
              <a:t>ans</a:t>
            </a:r>
            <a:r>
              <a:rPr lang="es-AR" sz="2200" dirty="0"/>
              <a:t> </a:t>
            </a:r>
            <a:r>
              <a:rPr lang="es-AR" sz="2200" dirty="0" err="1"/>
              <a:t>ans</a:t>
            </a:r>
            <a:r>
              <a:rPr lang="es-AR" sz="2200" dirty="0"/>
              <a:t> = 81</a:t>
            </a:r>
          </a:p>
          <a:p>
            <a:r>
              <a:rPr lang="es-AR" sz="2200" dirty="0"/>
              <a:t>Otro ejemplo: 1 + 3*2 - (1/2)*4</a:t>
            </a:r>
          </a:p>
          <a:p>
            <a:r>
              <a:rPr lang="es-AR" sz="2200" dirty="0"/>
              <a:t>Se puede crear una función para su uso posterior: </a:t>
            </a:r>
          </a:p>
          <a:p>
            <a:r>
              <a:rPr lang="es-AR" sz="2200" dirty="0" err="1"/>
              <a:t>sqr</a:t>
            </a:r>
            <a:r>
              <a:rPr lang="es-AR" sz="2200" dirty="0"/>
              <a:t> = @(x) x.^2;</a:t>
            </a:r>
          </a:p>
          <a:p>
            <a:r>
              <a:rPr lang="es-AR" sz="2200" dirty="0"/>
              <a:t>z=@(</a:t>
            </a:r>
            <a:r>
              <a:rPr lang="es-AR" sz="2200" dirty="0" err="1"/>
              <a:t>x,y</a:t>
            </a:r>
            <a:r>
              <a:rPr lang="es-AR" sz="2200" dirty="0"/>
              <a:t>) sin(x)+</a:t>
            </a:r>
            <a:r>
              <a:rPr lang="es-AR" sz="2200" dirty="0" err="1"/>
              <a:t>cos</a:t>
            </a:r>
            <a:r>
              <a:rPr lang="es-AR" sz="2200" dirty="0"/>
              <a:t>(y);</a:t>
            </a:r>
          </a:p>
          <a:p>
            <a:r>
              <a:rPr lang="es-AR" sz="2200" dirty="0"/>
              <a:t>Para ejecutar las funciones escriba, por ejemplo</a:t>
            </a:r>
          </a:p>
          <a:p>
            <a:r>
              <a:rPr lang="es-AR" sz="2200" dirty="0"/>
              <a:t>a = </a:t>
            </a:r>
            <a:r>
              <a:rPr lang="es-AR" sz="2200" dirty="0" err="1"/>
              <a:t>sqr</a:t>
            </a:r>
            <a:r>
              <a:rPr lang="es-AR" sz="2200" dirty="0"/>
              <a:t>(5) a=25</a:t>
            </a:r>
          </a:p>
          <a:p>
            <a:r>
              <a:rPr lang="es-AR" sz="2200" dirty="0"/>
              <a:t>z(0.2,0.3) </a:t>
            </a:r>
            <a:r>
              <a:rPr lang="es-AR" sz="2200" dirty="0" err="1"/>
              <a:t>ans</a:t>
            </a:r>
            <a:r>
              <a:rPr lang="es-AR" sz="2200" dirty="0"/>
              <a:t>=1.154</a:t>
            </a:r>
          </a:p>
          <a:p>
            <a:r>
              <a:rPr lang="es-AR" sz="2200" dirty="0"/>
              <a:t>Se pueden generar </a:t>
            </a:r>
            <a:r>
              <a:rPr lang="es-AR" sz="2200" b="1" dirty="0"/>
              <a:t>vectores</a:t>
            </a:r>
            <a:r>
              <a:rPr lang="es-AR" sz="2200" dirty="0"/>
              <a:t> con igual espaciado de la siguiente forma:</a:t>
            </a:r>
          </a:p>
          <a:p>
            <a:r>
              <a:rPr lang="es-AR" sz="2000" dirty="0"/>
              <a:t>1:5 </a:t>
            </a:r>
          </a:p>
          <a:p>
            <a:r>
              <a:rPr lang="es-AR" sz="2000" dirty="0"/>
              <a:t>0:2:10 </a:t>
            </a:r>
          </a:p>
          <a:p>
            <a:r>
              <a:rPr lang="es-AR" sz="2000" dirty="0"/>
              <a:t>0:.1:2*pi</a:t>
            </a:r>
          </a:p>
          <a:p>
            <a:r>
              <a:rPr lang="es-AR" sz="2000" dirty="0"/>
              <a:t>Otra opción es usar </a:t>
            </a:r>
            <a:r>
              <a:rPr lang="es-AR" sz="2000" dirty="0" err="1"/>
              <a:t>linspace</a:t>
            </a:r>
            <a:r>
              <a:rPr lang="es-AR" sz="2000" dirty="0"/>
              <a:t>(</a:t>
            </a:r>
            <a:r>
              <a:rPr lang="es-AR" sz="2000" dirty="0" err="1"/>
              <a:t>start,stop,npoints</a:t>
            </a:r>
            <a:r>
              <a:rPr lang="es-AR" sz="2000" dirty="0"/>
              <a:t> ):</a:t>
            </a:r>
          </a:p>
          <a:p>
            <a:r>
              <a:rPr lang="es-AR" sz="2000" dirty="0"/>
              <a:t>x = </a:t>
            </a:r>
            <a:r>
              <a:rPr lang="es-AR" sz="2000" dirty="0" err="1"/>
              <a:t>linspace</a:t>
            </a:r>
            <a:r>
              <a:rPr lang="es-AR" sz="2000" dirty="0"/>
              <a:t>(0,1,10)</a:t>
            </a:r>
          </a:p>
        </p:txBody>
      </p:sp>
    </p:spTree>
    <p:extLst>
      <p:ext uri="{BB962C8B-B14F-4D97-AF65-F5344CB8AC3E}">
        <p14:creationId xmlns:p14="http://schemas.microsoft.com/office/powerpoint/2010/main" val="27336489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86628" y="115504"/>
            <a:ext cx="2483318" cy="2000548"/>
          </a:xfrm>
          <a:prstGeom prst="rect">
            <a:avLst/>
          </a:prstGeom>
          <a:noFill/>
        </p:spPr>
        <p:txBody>
          <a:bodyPr wrap="square" rtlCol="0">
            <a:spAutoFit/>
          </a:bodyPr>
          <a:lstStyle/>
          <a:p>
            <a:r>
              <a:rPr lang="es-AR" sz="2400" b="1" dirty="0"/>
              <a:t>Matrices</a:t>
            </a:r>
          </a:p>
          <a:p>
            <a:r>
              <a:rPr lang="pt-BR" sz="2000" dirty="0"/>
              <a:t>a = [1 2 3;4 5 6;7 8 9]</a:t>
            </a:r>
          </a:p>
          <a:p>
            <a:r>
              <a:rPr lang="pt-BR" sz="2000" dirty="0"/>
              <a:t>a =</a:t>
            </a:r>
          </a:p>
          <a:p>
            <a:r>
              <a:rPr lang="pt-BR" sz="2000" dirty="0"/>
              <a:t>     1     2     3</a:t>
            </a:r>
          </a:p>
          <a:p>
            <a:r>
              <a:rPr lang="pt-BR" sz="2000" dirty="0"/>
              <a:t>     4     5     6</a:t>
            </a:r>
          </a:p>
          <a:p>
            <a:r>
              <a:rPr lang="pt-BR" sz="2000" dirty="0"/>
              <a:t>     7     8     9</a:t>
            </a:r>
            <a:endParaRPr lang="es-AR" sz="2000" dirty="0"/>
          </a:p>
        </p:txBody>
      </p:sp>
      <p:sp>
        <p:nvSpPr>
          <p:cNvPr id="5" name="Rectángulo 4"/>
          <p:cNvSpPr/>
          <p:nvPr/>
        </p:nvSpPr>
        <p:spPr>
          <a:xfrm>
            <a:off x="2541071" y="1179582"/>
            <a:ext cx="3550972" cy="400110"/>
          </a:xfrm>
          <a:prstGeom prst="rect">
            <a:avLst/>
          </a:prstGeom>
        </p:spPr>
        <p:txBody>
          <a:bodyPr wrap="none">
            <a:spAutoFit/>
          </a:bodyPr>
          <a:lstStyle/>
          <a:p>
            <a:r>
              <a:rPr lang="pt-BR" sz="2000" dirty="0"/>
              <a:t>b = [a 10*a;-a [1 0 0;0 1 0;0 0 1]]</a:t>
            </a:r>
            <a:endParaRPr lang="es-AR" sz="2000" dirty="0"/>
          </a:p>
        </p:txBody>
      </p:sp>
      <p:sp>
        <p:nvSpPr>
          <p:cNvPr id="6" name="CuadroTexto 5"/>
          <p:cNvSpPr txBox="1"/>
          <p:nvPr/>
        </p:nvSpPr>
        <p:spPr>
          <a:xfrm>
            <a:off x="2406317" y="789271"/>
            <a:ext cx="7459579" cy="369332"/>
          </a:xfrm>
          <a:prstGeom prst="rect">
            <a:avLst/>
          </a:prstGeom>
          <a:noFill/>
        </p:spPr>
        <p:txBody>
          <a:bodyPr wrap="square" rtlCol="0">
            <a:spAutoFit/>
          </a:bodyPr>
          <a:lstStyle/>
          <a:p>
            <a:r>
              <a:rPr lang="es-AR" dirty="0"/>
              <a:t>También se pueden crear matrices a través de sub matrices</a:t>
            </a:r>
          </a:p>
        </p:txBody>
      </p:sp>
      <p:sp>
        <p:nvSpPr>
          <p:cNvPr id="7" name="Rectángulo 6"/>
          <p:cNvSpPr/>
          <p:nvPr/>
        </p:nvSpPr>
        <p:spPr>
          <a:xfrm>
            <a:off x="86628" y="2040778"/>
            <a:ext cx="5835315" cy="369332"/>
          </a:xfrm>
          <a:prstGeom prst="rect">
            <a:avLst/>
          </a:prstGeom>
        </p:spPr>
        <p:txBody>
          <a:bodyPr wrap="none">
            <a:spAutoFit/>
          </a:bodyPr>
          <a:lstStyle/>
          <a:p>
            <a:r>
              <a:rPr lang="es-AR" dirty="0"/>
              <a:t>La función </a:t>
            </a:r>
            <a:r>
              <a:rPr lang="es-AR" b="1" dirty="0" err="1"/>
              <a:t>repmat</a:t>
            </a:r>
            <a:r>
              <a:rPr lang="es-AR" dirty="0"/>
              <a:t> se puede utilizar para replicar una matriz:</a:t>
            </a:r>
          </a:p>
        </p:txBody>
      </p:sp>
      <p:sp>
        <p:nvSpPr>
          <p:cNvPr id="8" name="Rectángulo 7"/>
          <p:cNvSpPr/>
          <p:nvPr/>
        </p:nvSpPr>
        <p:spPr>
          <a:xfrm>
            <a:off x="86628" y="2392472"/>
            <a:ext cx="1346844" cy="369332"/>
          </a:xfrm>
          <a:prstGeom prst="rect">
            <a:avLst/>
          </a:prstGeom>
        </p:spPr>
        <p:txBody>
          <a:bodyPr wrap="none">
            <a:spAutoFit/>
          </a:bodyPr>
          <a:lstStyle/>
          <a:p>
            <a:r>
              <a:rPr lang="pt-BR"/>
              <a:t>a = [1 2; 3 4]</a:t>
            </a:r>
            <a:endParaRPr lang="es-AR" dirty="0"/>
          </a:p>
        </p:txBody>
      </p:sp>
      <p:sp>
        <p:nvSpPr>
          <p:cNvPr id="9" name="Rectángulo 8"/>
          <p:cNvSpPr/>
          <p:nvPr/>
        </p:nvSpPr>
        <p:spPr>
          <a:xfrm>
            <a:off x="1433472" y="2372473"/>
            <a:ext cx="1522853" cy="369332"/>
          </a:xfrm>
          <a:prstGeom prst="rect">
            <a:avLst/>
          </a:prstGeom>
        </p:spPr>
        <p:txBody>
          <a:bodyPr wrap="none">
            <a:spAutoFit/>
          </a:bodyPr>
          <a:lstStyle/>
          <a:p>
            <a:r>
              <a:rPr lang="es-AR" dirty="0" err="1"/>
              <a:t>repmat</a:t>
            </a:r>
            <a:r>
              <a:rPr lang="es-AR" dirty="0"/>
              <a:t>(a,2,3) </a:t>
            </a:r>
          </a:p>
        </p:txBody>
      </p:sp>
      <p:sp>
        <p:nvSpPr>
          <p:cNvPr id="10" name="Rectángulo 9"/>
          <p:cNvSpPr/>
          <p:nvPr/>
        </p:nvSpPr>
        <p:spPr>
          <a:xfrm>
            <a:off x="86628" y="2735752"/>
            <a:ext cx="10812380" cy="3170099"/>
          </a:xfrm>
          <a:prstGeom prst="rect">
            <a:avLst/>
          </a:prstGeom>
        </p:spPr>
        <p:txBody>
          <a:bodyPr wrap="square">
            <a:spAutoFit/>
          </a:bodyPr>
          <a:lstStyle/>
          <a:p>
            <a:r>
              <a:rPr lang="es-AR" sz="2000" dirty="0" err="1"/>
              <a:t>zeros</a:t>
            </a:r>
            <a:r>
              <a:rPr lang="es-AR" sz="2000" dirty="0"/>
              <a:t>: una matriz llena de ceros</a:t>
            </a:r>
          </a:p>
          <a:p>
            <a:r>
              <a:rPr lang="es-AR" sz="2000" dirty="0" err="1"/>
              <a:t>zeros</a:t>
            </a:r>
            <a:r>
              <a:rPr lang="es-AR" sz="2000" dirty="0"/>
              <a:t>(2,3) </a:t>
            </a:r>
          </a:p>
          <a:p>
            <a:r>
              <a:rPr lang="es-AR" sz="2000" dirty="0" err="1"/>
              <a:t>ones</a:t>
            </a:r>
            <a:r>
              <a:rPr lang="es-AR" sz="2000" dirty="0"/>
              <a:t>: una matriz llena de unos</a:t>
            </a:r>
          </a:p>
          <a:p>
            <a:r>
              <a:rPr lang="es-AR" sz="2000" dirty="0" err="1"/>
              <a:t>ones</a:t>
            </a:r>
            <a:r>
              <a:rPr lang="es-AR" sz="2000" dirty="0"/>
              <a:t>(2,2)/2</a:t>
            </a:r>
          </a:p>
          <a:p>
            <a:r>
              <a:rPr lang="es-AR" sz="2000" dirty="0"/>
              <a:t>rand: una matriz con elementos aleatorios uniformemente distribuidos</a:t>
            </a:r>
          </a:p>
          <a:p>
            <a:r>
              <a:rPr lang="es-AR" sz="2000" dirty="0"/>
              <a:t>u = rand(1,5) </a:t>
            </a:r>
          </a:p>
          <a:p>
            <a:r>
              <a:rPr lang="es-AR" sz="2000" dirty="0" err="1"/>
              <a:t>randn</a:t>
            </a:r>
            <a:r>
              <a:rPr lang="es-AR" sz="2000" dirty="0"/>
              <a:t>: una matriz con elementos aleatorios normalmente distribuidos</a:t>
            </a:r>
          </a:p>
          <a:p>
            <a:r>
              <a:rPr lang="es-AR" sz="2000" dirty="0"/>
              <a:t>n = </a:t>
            </a:r>
            <a:r>
              <a:rPr lang="es-AR" sz="2000" dirty="0" err="1"/>
              <a:t>randn</a:t>
            </a:r>
            <a:r>
              <a:rPr lang="es-AR" sz="2000" dirty="0"/>
              <a:t>(5,5) </a:t>
            </a:r>
          </a:p>
          <a:p>
            <a:r>
              <a:rPr lang="es-AR" sz="2000" dirty="0" err="1"/>
              <a:t>eye</a:t>
            </a:r>
            <a:r>
              <a:rPr lang="es-AR" sz="2000" dirty="0"/>
              <a:t>: matriz de identidad</a:t>
            </a:r>
          </a:p>
          <a:p>
            <a:r>
              <a:rPr lang="es-AR" sz="2000" dirty="0" err="1"/>
              <a:t>eye</a:t>
            </a:r>
            <a:r>
              <a:rPr lang="es-AR" sz="2000" dirty="0"/>
              <a:t>(3) </a:t>
            </a:r>
          </a:p>
        </p:txBody>
      </p:sp>
      <p:sp>
        <p:nvSpPr>
          <p:cNvPr id="11" name="CuadroTexto 10"/>
          <p:cNvSpPr txBox="1"/>
          <p:nvPr/>
        </p:nvSpPr>
        <p:spPr>
          <a:xfrm>
            <a:off x="86628" y="6142182"/>
            <a:ext cx="9306754" cy="400110"/>
          </a:xfrm>
          <a:prstGeom prst="rect">
            <a:avLst/>
          </a:prstGeom>
          <a:noFill/>
        </p:spPr>
        <p:txBody>
          <a:bodyPr wrap="square" rtlCol="0">
            <a:spAutoFit/>
          </a:bodyPr>
          <a:lstStyle/>
          <a:p>
            <a:r>
              <a:rPr lang="es-AR" sz="2000" dirty="0"/>
              <a:t>Se puede trasponer una matriz </a:t>
            </a:r>
            <a:r>
              <a:rPr lang="es-AR" sz="2000" b="1" dirty="0"/>
              <a:t>a</a:t>
            </a:r>
            <a:r>
              <a:rPr lang="es-AR" sz="2000" dirty="0"/>
              <a:t> usando </a:t>
            </a:r>
            <a:r>
              <a:rPr lang="es-AR" sz="2000" b="1" dirty="0"/>
              <a:t>a’</a:t>
            </a:r>
          </a:p>
        </p:txBody>
      </p:sp>
    </p:spTree>
    <p:extLst>
      <p:ext uri="{BB962C8B-B14F-4D97-AF65-F5344CB8AC3E}">
        <p14:creationId xmlns:p14="http://schemas.microsoft.com/office/powerpoint/2010/main" val="15510562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p:cNvPicPr>
            <a:picLocks noChangeAspect="1"/>
          </p:cNvPicPr>
          <p:nvPr/>
        </p:nvPicPr>
        <p:blipFill rotWithShape="1">
          <a:blip r:embed="rId2">
            <a:extLst>
              <a:ext uri="{28A0092B-C50C-407E-A947-70E740481C1C}">
                <a14:useLocalDpi xmlns:a14="http://schemas.microsoft.com/office/drawing/2010/main" val="0"/>
              </a:ext>
            </a:extLst>
          </a:blip>
          <a:srcRect l="8070" r="7829"/>
          <a:stretch/>
        </p:blipFill>
        <p:spPr>
          <a:xfrm>
            <a:off x="3843604" y="3299957"/>
            <a:ext cx="4036840" cy="3600000"/>
          </a:xfrm>
          <a:prstGeom prst="rect">
            <a:avLst/>
          </a:prstGeom>
        </p:spPr>
      </p:pic>
      <p:sp>
        <p:nvSpPr>
          <p:cNvPr id="4" name="CuadroTexto 3"/>
          <p:cNvSpPr txBox="1"/>
          <p:nvPr/>
        </p:nvSpPr>
        <p:spPr>
          <a:xfrm>
            <a:off x="0" y="0"/>
            <a:ext cx="11859491" cy="4124206"/>
          </a:xfrm>
          <a:prstGeom prst="rect">
            <a:avLst/>
          </a:prstGeom>
          <a:noFill/>
        </p:spPr>
        <p:txBody>
          <a:bodyPr wrap="square" rtlCol="0">
            <a:spAutoFit/>
          </a:bodyPr>
          <a:lstStyle/>
          <a:p>
            <a:r>
              <a:rPr lang="es-AR" sz="2200" dirty="0"/>
              <a:t>Formas de graficar: </a:t>
            </a:r>
          </a:p>
          <a:p>
            <a:r>
              <a:rPr lang="es-ES_tradnl" dirty="0" err="1"/>
              <a:t>Ezplot</a:t>
            </a:r>
            <a:r>
              <a:rPr lang="es-ES_tradnl" dirty="0"/>
              <a:t>: Función </a:t>
            </a:r>
            <a:r>
              <a:rPr lang="es-ES_tradnl" dirty="0" err="1"/>
              <a:t>graficadora</a:t>
            </a:r>
            <a:r>
              <a:rPr lang="es-ES_tradnl" dirty="0"/>
              <a:t> de fácil uso.	 </a:t>
            </a:r>
            <a:endParaRPr lang="es-AR" dirty="0"/>
          </a:p>
          <a:p>
            <a:r>
              <a:rPr lang="es-ES_tradnl" b="1" dirty="0"/>
              <a:t>Sintaxis</a:t>
            </a:r>
            <a:endParaRPr lang="es-AR" dirty="0"/>
          </a:p>
          <a:p>
            <a:r>
              <a:rPr lang="es-ES_tradnl" i="1" dirty="0" err="1"/>
              <a:t>ezplot</a:t>
            </a:r>
            <a:r>
              <a:rPr lang="es-ES_tradnl" i="1" dirty="0"/>
              <a:t>(</a:t>
            </a:r>
            <a:r>
              <a:rPr lang="es-ES_tradnl" i="1" dirty="0" err="1"/>
              <a:t>fun</a:t>
            </a:r>
            <a:r>
              <a:rPr lang="es-ES_tradnl" i="1" dirty="0"/>
              <a:t>)</a:t>
            </a:r>
            <a:r>
              <a:rPr lang="es-ES_tradnl" dirty="0"/>
              <a:t>) grafica la expresión </a:t>
            </a:r>
            <a:r>
              <a:rPr lang="es-ES_tradnl" i="1" dirty="0" err="1"/>
              <a:t>fun</a:t>
            </a:r>
            <a:r>
              <a:rPr lang="es-ES_tradnl" i="1" dirty="0"/>
              <a:t>(x)</a:t>
            </a:r>
            <a:r>
              <a:rPr lang="es-ES_tradnl" dirty="0"/>
              <a:t> sobre el dominio default -2p &lt; x &lt; 2 p</a:t>
            </a:r>
            <a:endParaRPr lang="es-AR" dirty="0"/>
          </a:p>
          <a:p>
            <a:r>
              <a:rPr lang="es-ES_tradnl" i="1" dirty="0" err="1"/>
              <a:t>ezplot</a:t>
            </a:r>
            <a:r>
              <a:rPr lang="es-ES_tradnl" i="1" dirty="0"/>
              <a:t>(</a:t>
            </a:r>
            <a:r>
              <a:rPr lang="es-ES_tradnl" i="1" dirty="0" err="1"/>
              <a:t>fun</a:t>
            </a:r>
            <a:r>
              <a:rPr lang="es-ES_tradnl" i="1" dirty="0"/>
              <a:t>,[</a:t>
            </a:r>
            <a:r>
              <a:rPr lang="es-ES_tradnl" i="1" dirty="0" err="1"/>
              <a:t>min,max</a:t>
            </a:r>
            <a:r>
              <a:rPr lang="es-ES_tradnl" i="1" dirty="0"/>
              <a:t>]) </a:t>
            </a:r>
            <a:r>
              <a:rPr lang="es-ES_tradnl" dirty="0"/>
              <a:t>grafica </a:t>
            </a:r>
            <a:r>
              <a:rPr lang="es-ES_tradnl" i="1" dirty="0" err="1"/>
              <a:t>fun</a:t>
            </a:r>
            <a:r>
              <a:rPr lang="es-ES_tradnl" i="1" dirty="0"/>
              <a:t>(x)</a:t>
            </a:r>
            <a:r>
              <a:rPr lang="es-ES_tradnl" dirty="0"/>
              <a:t> sobre el domino: min &lt; x &lt; </a:t>
            </a:r>
            <a:r>
              <a:rPr lang="es-ES_tradnl" dirty="0" err="1"/>
              <a:t>max</a:t>
            </a:r>
            <a:endParaRPr lang="es-AR" dirty="0"/>
          </a:p>
          <a:p>
            <a:r>
              <a:rPr lang="es-ES_tradnl" i="1" dirty="0" err="1"/>
              <a:t>ezplot</a:t>
            </a:r>
            <a:r>
              <a:rPr lang="es-ES_tradnl" i="1" dirty="0"/>
              <a:t>(fun2) </a:t>
            </a:r>
            <a:r>
              <a:rPr lang="es-ES_tradnl" dirty="0"/>
              <a:t>grafica fun2(</a:t>
            </a:r>
            <a:r>
              <a:rPr lang="es-ES_tradnl" dirty="0" err="1"/>
              <a:t>x,y</a:t>
            </a:r>
            <a:r>
              <a:rPr lang="es-ES_tradnl" dirty="0"/>
              <a:t>) = 0 sobre el dominio default -2p &lt; x &lt; 2 p, -2 p &lt; y &lt; 2 p.</a:t>
            </a:r>
            <a:endParaRPr lang="es-AR" dirty="0"/>
          </a:p>
          <a:p>
            <a:r>
              <a:rPr lang="es-ES_tradnl" i="1" dirty="0" err="1"/>
              <a:t>ezplot</a:t>
            </a:r>
            <a:r>
              <a:rPr lang="es-ES_tradnl" i="1" dirty="0"/>
              <a:t>(fun2,[</a:t>
            </a:r>
            <a:r>
              <a:rPr lang="es-ES_tradnl" i="1" dirty="0" err="1"/>
              <a:t>xmin,xmax,ymin,ymax</a:t>
            </a:r>
            <a:r>
              <a:rPr lang="es-ES_tradnl" i="1" dirty="0"/>
              <a:t>]) </a:t>
            </a:r>
            <a:r>
              <a:rPr lang="es-ES_tradnl" dirty="0"/>
              <a:t>grafica fun2(</a:t>
            </a:r>
            <a:r>
              <a:rPr lang="es-ES_tradnl" dirty="0" err="1"/>
              <a:t>x,y</a:t>
            </a:r>
            <a:r>
              <a:rPr lang="es-ES_tradnl" dirty="0"/>
              <a:t>) = 0 sobre </a:t>
            </a:r>
            <a:r>
              <a:rPr lang="es-ES_tradnl" dirty="0" err="1"/>
              <a:t>xmin</a:t>
            </a:r>
            <a:r>
              <a:rPr lang="es-ES_tradnl" dirty="0"/>
              <a:t> &lt; x &lt; </a:t>
            </a:r>
            <a:r>
              <a:rPr lang="es-ES_tradnl" dirty="0" err="1"/>
              <a:t>xmax</a:t>
            </a:r>
            <a:r>
              <a:rPr lang="es-ES_tradnl" dirty="0"/>
              <a:t> e </a:t>
            </a:r>
            <a:r>
              <a:rPr lang="es-ES_tradnl" dirty="0" err="1"/>
              <a:t>ymin</a:t>
            </a:r>
            <a:r>
              <a:rPr lang="es-ES_tradnl" dirty="0"/>
              <a:t> &lt; y &lt; </a:t>
            </a:r>
            <a:r>
              <a:rPr lang="es-ES_tradnl" dirty="0" err="1"/>
              <a:t>ymax</a:t>
            </a:r>
            <a:r>
              <a:rPr lang="es-ES_tradnl" dirty="0"/>
              <a:t>.</a:t>
            </a:r>
            <a:endParaRPr lang="es-AR" dirty="0"/>
          </a:p>
          <a:p>
            <a:r>
              <a:rPr lang="es-ES_tradnl" i="1" dirty="0" err="1"/>
              <a:t>ezplot</a:t>
            </a:r>
            <a:r>
              <a:rPr lang="es-ES_tradnl" i="1" dirty="0"/>
              <a:t>(fun2,[</a:t>
            </a:r>
            <a:r>
              <a:rPr lang="es-ES_tradnl" i="1" dirty="0" err="1"/>
              <a:t>min,max</a:t>
            </a:r>
            <a:r>
              <a:rPr lang="es-ES_tradnl" i="1" dirty="0"/>
              <a:t>])</a:t>
            </a:r>
            <a:endParaRPr lang="es-AR" dirty="0"/>
          </a:p>
          <a:p>
            <a:r>
              <a:rPr lang="es-ES_tradnl" i="1" dirty="0" err="1"/>
              <a:t>ezplot</a:t>
            </a:r>
            <a:r>
              <a:rPr lang="es-ES_tradnl" i="1" dirty="0"/>
              <a:t>(</a:t>
            </a:r>
            <a:r>
              <a:rPr lang="es-ES_tradnl" i="1" dirty="0" err="1"/>
              <a:t>funx,funy</a:t>
            </a:r>
            <a:r>
              <a:rPr lang="es-ES_tradnl" i="1" dirty="0"/>
              <a:t>) </a:t>
            </a:r>
            <a:r>
              <a:rPr lang="es-ES_tradnl" dirty="0"/>
              <a:t>grafica la curva </a:t>
            </a:r>
            <a:r>
              <a:rPr lang="es-ES_tradnl" dirty="0" err="1"/>
              <a:t>planar</a:t>
            </a:r>
            <a:r>
              <a:rPr lang="es-ES_tradnl" dirty="0"/>
              <a:t> definida paramétricamente </a:t>
            </a:r>
            <a:r>
              <a:rPr lang="es-ES_tradnl" i="1" dirty="0" err="1"/>
              <a:t>funx</a:t>
            </a:r>
            <a:r>
              <a:rPr lang="es-ES_tradnl" i="1" dirty="0"/>
              <a:t>(t)</a:t>
            </a:r>
            <a:r>
              <a:rPr lang="es-ES_tradnl" dirty="0"/>
              <a:t> y </a:t>
            </a:r>
            <a:r>
              <a:rPr lang="es-ES_tradnl" i="1" dirty="0" err="1"/>
              <a:t>funy</a:t>
            </a:r>
            <a:r>
              <a:rPr lang="es-ES_tradnl" i="1" dirty="0"/>
              <a:t>(t)</a:t>
            </a:r>
            <a:r>
              <a:rPr lang="es-ES_tradnl" dirty="0"/>
              <a:t> sobre el dominio default 0 &lt; t &lt; 2p</a:t>
            </a:r>
            <a:endParaRPr lang="es-AR" dirty="0"/>
          </a:p>
          <a:p>
            <a:r>
              <a:rPr lang="es-ES_tradnl" i="1" dirty="0" err="1"/>
              <a:t>ezplot</a:t>
            </a:r>
            <a:r>
              <a:rPr lang="es-ES_tradnl" i="1" dirty="0"/>
              <a:t>(</a:t>
            </a:r>
            <a:r>
              <a:rPr lang="es-ES_tradnl" i="1" dirty="0" err="1"/>
              <a:t>funx,funy</a:t>
            </a:r>
            <a:r>
              <a:rPr lang="es-ES_tradnl" i="1" dirty="0"/>
              <a:t>,[</a:t>
            </a:r>
            <a:r>
              <a:rPr lang="es-ES_tradnl" i="1" dirty="0" err="1"/>
              <a:t>tmin,tmax</a:t>
            </a:r>
            <a:r>
              <a:rPr lang="es-ES_tradnl" i="1" dirty="0"/>
              <a:t>]) </a:t>
            </a:r>
            <a:r>
              <a:rPr lang="es-ES_tradnl" dirty="0"/>
              <a:t>grafica </a:t>
            </a:r>
            <a:r>
              <a:rPr lang="es-ES_tradnl" dirty="0" err="1"/>
              <a:t>funx</a:t>
            </a:r>
            <a:r>
              <a:rPr lang="es-ES_tradnl" dirty="0"/>
              <a:t>(t) y </a:t>
            </a:r>
            <a:r>
              <a:rPr lang="es-ES_tradnl" dirty="0" err="1"/>
              <a:t>funy</a:t>
            </a:r>
            <a:r>
              <a:rPr lang="es-ES_tradnl" dirty="0"/>
              <a:t>(t) sobre </a:t>
            </a:r>
            <a:r>
              <a:rPr lang="es-ES_tradnl" dirty="0" err="1"/>
              <a:t>tmin</a:t>
            </a:r>
            <a:r>
              <a:rPr lang="es-ES_tradnl" dirty="0"/>
              <a:t> &lt; t &lt; </a:t>
            </a:r>
            <a:r>
              <a:rPr lang="es-ES_tradnl" dirty="0" err="1"/>
              <a:t>tmax</a:t>
            </a:r>
            <a:endParaRPr lang="es-AR" dirty="0"/>
          </a:p>
          <a:p>
            <a:r>
              <a:rPr lang="es-AR" sz="2000" dirty="0"/>
              <a:t>-------------------------------------------</a:t>
            </a:r>
          </a:p>
          <a:p>
            <a:r>
              <a:rPr lang="es-ES_tradnl" sz="2000" dirty="0" err="1"/>
              <a:t>ezplot</a:t>
            </a:r>
            <a:r>
              <a:rPr lang="es-ES_tradnl" sz="2000" dirty="0"/>
              <a:t>('sin(x)')</a:t>
            </a:r>
            <a:endParaRPr lang="es-AR" sz="2000" dirty="0"/>
          </a:p>
          <a:p>
            <a:endParaRPr lang="es-AR" sz="2000" dirty="0"/>
          </a:p>
          <a:p>
            <a:endParaRPr lang="es-AR" sz="2000" dirty="0"/>
          </a:p>
        </p:txBody>
      </p:sp>
      <p:pic>
        <p:nvPicPr>
          <p:cNvPr id="5" name="Imagen 4"/>
          <p:cNvPicPr>
            <a:picLocks noChangeAspect="1"/>
          </p:cNvPicPr>
          <p:nvPr/>
        </p:nvPicPr>
        <p:blipFill rotWithShape="1">
          <a:blip r:embed="rId3">
            <a:extLst>
              <a:ext uri="{28A0092B-C50C-407E-A947-70E740481C1C}">
                <a14:useLocalDpi xmlns:a14="http://schemas.microsoft.com/office/drawing/2010/main" val="0"/>
              </a:ext>
            </a:extLst>
          </a:blip>
          <a:srcRect l="7051" r="7917"/>
          <a:stretch/>
        </p:blipFill>
        <p:spPr>
          <a:xfrm>
            <a:off x="-48125" y="3451764"/>
            <a:ext cx="3959104" cy="3492000"/>
          </a:xfrm>
          <a:prstGeom prst="rect">
            <a:avLst/>
          </a:prstGeom>
        </p:spPr>
      </p:pic>
      <p:sp>
        <p:nvSpPr>
          <p:cNvPr id="6" name="Rectángulo 5"/>
          <p:cNvSpPr/>
          <p:nvPr/>
        </p:nvSpPr>
        <p:spPr>
          <a:xfrm>
            <a:off x="3959104" y="3051654"/>
            <a:ext cx="2088136" cy="400110"/>
          </a:xfrm>
          <a:prstGeom prst="rect">
            <a:avLst/>
          </a:prstGeom>
        </p:spPr>
        <p:txBody>
          <a:bodyPr wrap="none">
            <a:spAutoFit/>
          </a:bodyPr>
          <a:lstStyle/>
          <a:p>
            <a:r>
              <a:rPr lang="es-ES_tradnl" sz="2000" dirty="0" err="1">
                <a:ea typeface="Calibri" panose="020F0502020204030204" pitchFamily="34" charset="0"/>
              </a:rPr>
              <a:t>ezplot</a:t>
            </a:r>
            <a:r>
              <a:rPr lang="es-ES_tradnl" sz="2000" dirty="0">
                <a:ea typeface="Calibri" panose="020F0502020204030204" pitchFamily="34" charset="0"/>
              </a:rPr>
              <a:t>('x^2',[-2,2])</a:t>
            </a:r>
            <a:endParaRPr lang="es-AR" sz="2000" dirty="0"/>
          </a:p>
        </p:txBody>
      </p:sp>
      <p:sp>
        <p:nvSpPr>
          <p:cNvPr id="8" name="Rectángulo 7"/>
          <p:cNvSpPr/>
          <p:nvPr/>
        </p:nvSpPr>
        <p:spPr>
          <a:xfrm>
            <a:off x="7802708" y="2905618"/>
            <a:ext cx="4389292" cy="446276"/>
          </a:xfrm>
          <a:prstGeom prst="rect">
            <a:avLst/>
          </a:prstGeom>
        </p:spPr>
        <p:txBody>
          <a:bodyPr wrap="square">
            <a:spAutoFit/>
          </a:bodyPr>
          <a:lstStyle/>
          <a:p>
            <a:pPr>
              <a:lnSpc>
                <a:spcPct val="115000"/>
              </a:lnSpc>
              <a:spcAft>
                <a:spcPts val="1000"/>
              </a:spcAft>
            </a:pPr>
            <a:r>
              <a:rPr lang="es-ES_tradnl" sz="2000" dirty="0" err="1">
                <a:ea typeface="Calibri" panose="020F0502020204030204" pitchFamily="34" charset="0"/>
                <a:cs typeface="Times New Roman" panose="02020603050405020304" pitchFamily="18" charset="0"/>
              </a:rPr>
              <a:t>ezplot</a:t>
            </a:r>
            <a:r>
              <a:rPr lang="es-ES_tradnl" sz="2000" dirty="0">
                <a:ea typeface="Calibri" panose="020F0502020204030204" pitchFamily="34" charset="0"/>
                <a:cs typeface="Times New Roman" panose="02020603050405020304" pitchFamily="18" charset="0"/>
              </a:rPr>
              <a:t>('(x^2)/4+(y^2)/9-1',[-3,3],[-3,3])</a:t>
            </a:r>
            <a:endParaRPr lang="es-AR" sz="2000" dirty="0">
              <a:ea typeface="Calibri" panose="020F0502020204030204" pitchFamily="34" charset="0"/>
              <a:cs typeface="Times New Roman" panose="02020603050405020304" pitchFamily="18" charset="0"/>
            </a:endParaRPr>
          </a:p>
        </p:txBody>
      </p:sp>
      <p:pic>
        <p:nvPicPr>
          <p:cNvPr id="9" name="Imagen 8"/>
          <p:cNvPicPr>
            <a:picLocks noChangeAspect="1"/>
          </p:cNvPicPr>
          <p:nvPr/>
        </p:nvPicPr>
        <p:blipFill rotWithShape="1">
          <a:blip r:embed="rId4">
            <a:extLst>
              <a:ext uri="{28A0092B-C50C-407E-A947-70E740481C1C}">
                <a14:useLocalDpi xmlns:a14="http://schemas.microsoft.com/office/drawing/2010/main" val="0"/>
              </a:ext>
            </a:extLst>
          </a:blip>
          <a:srcRect l="6810" r="8367"/>
          <a:stretch/>
        </p:blipFill>
        <p:spPr>
          <a:xfrm>
            <a:off x="7995944" y="3299957"/>
            <a:ext cx="3990055" cy="3528000"/>
          </a:xfrm>
          <a:prstGeom prst="rect">
            <a:avLst/>
          </a:prstGeom>
        </p:spPr>
      </p:pic>
    </p:spTree>
    <p:extLst>
      <p:ext uri="{BB962C8B-B14F-4D97-AF65-F5344CB8AC3E}">
        <p14:creationId xmlns:p14="http://schemas.microsoft.com/office/powerpoint/2010/main" val="40788637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3408497" cy="425501"/>
          </a:xfrm>
          <a:prstGeom prst="rect">
            <a:avLst/>
          </a:prstGeom>
        </p:spPr>
        <p:txBody>
          <a:bodyPr wrap="none">
            <a:spAutoFit/>
          </a:bodyPr>
          <a:lstStyle/>
          <a:p>
            <a:pPr>
              <a:lnSpc>
                <a:spcPct val="115000"/>
              </a:lnSpc>
              <a:spcAft>
                <a:spcPts val="1000"/>
              </a:spcAft>
            </a:pPr>
            <a:r>
              <a:rPr lang="es-ES_tradnl" sz="2000" dirty="0" err="1">
                <a:ea typeface="Calibri" panose="020F0502020204030204" pitchFamily="34" charset="0"/>
                <a:cs typeface="Times New Roman" panose="02020603050405020304" pitchFamily="18" charset="0"/>
              </a:rPr>
              <a:t>ezplot</a:t>
            </a:r>
            <a:r>
              <a:rPr lang="es-ES_tradnl" sz="2000" dirty="0">
                <a:ea typeface="Calibri" panose="020F0502020204030204" pitchFamily="34" charset="0"/>
                <a:cs typeface="Times New Roman" panose="02020603050405020304" pitchFamily="18" charset="0"/>
              </a:rPr>
              <a:t>('sin(t)','</a:t>
            </a:r>
            <a:r>
              <a:rPr lang="es-ES_tradnl" sz="2000" dirty="0" err="1">
                <a:ea typeface="Calibri" panose="020F0502020204030204" pitchFamily="34" charset="0"/>
                <a:cs typeface="Times New Roman" panose="02020603050405020304" pitchFamily="18" charset="0"/>
              </a:rPr>
              <a:t>cos</a:t>
            </a:r>
            <a:r>
              <a:rPr lang="es-ES_tradnl" sz="2000" dirty="0">
                <a:ea typeface="Calibri" panose="020F0502020204030204" pitchFamily="34" charset="0"/>
                <a:cs typeface="Times New Roman" panose="02020603050405020304" pitchFamily="18" charset="0"/>
              </a:rPr>
              <a:t>(t)',[-1.5,1.5])</a:t>
            </a:r>
            <a:endParaRPr lang="es-AR" sz="2000" dirty="0">
              <a:ea typeface="Calibri" panose="020F0502020204030204" pitchFamily="34" charset="0"/>
              <a:cs typeface="Times New Roman" panose="02020603050405020304" pitchFamily="18" charset="0"/>
            </a:endParaRPr>
          </a:p>
        </p:txBody>
      </p:sp>
      <p:pic>
        <p:nvPicPr>
          <p:cNvPr id="5" name="Imagen 4"/>
          <p:cNvPicPr>
            <a:picLocks noChangeAspect="1"/>
          </p:cNvPicPr>
          <p:nvPr/>
        </p:nvPicPr>
        <p:blipFill rotWithShape="1">
          <a:blip r:embed="rId2">
            <a:extLst>
              <a:ext uri="{28A0092B-C50C-407E-A947-70E740481C1C}">
                <a14:useLocalDpi xmlns:a14="http://schemas.microsoft.com/office/drawing/2010/main" val="0"/>
              </a:ext>
            </a:extLst>
          </a:blip>
          <a:srcRect l="4640" r="8552" b="2896"/>
          <a:stretch/>
        </p:blipFill>
        <p:spPr>
          <a:xfrm>
            <a:off x="202139" y="425501"/>
            <a:ext cx="3819037" cy="3204000"/>
          </a:xfrm>
          <a:prstGeom prst="rect">
            <a:avLst/>
          </a:prstGeom>
        </p:spPr>
      </p:pic>
      <p:sp>
        <p:nvSpPr>
          <p:cNvPr id="6" name="Rectángulo 5"/>
          <p:cNvSpPr/>
          <p:nvPr/>
        </p:nvSpPr>
        <p:spPr>
          <a:xfrm>
            <a:off x="5589069" y="0"/>
            <a:ext cx="6096000" cy="1045094"/>
          </a:xfrm>
          <a:prstGeom prst="rect">
            <a:avLst/>
          </a:prstGeom>
        </p:spPr>
        <p:txBody>
          <a:bodyPr>
            <a:spAutoFit/>
          </a:bodyPr>
          <a:lstStyle/>
          <a:p>
            <a:pPr>
              <a:lnSpc>
                <a:spcPct val="115000"/>
              </a:lnSpc>
              <a:spcAft>
                <a:spcPts val="1000"/>
              </a:spcAft>
            </a:pPr>
            <a:r>
              <a:rPr lang="es-ES_tradnl" sz="2400" dirty="0">
                <a:ea typeface="Calibri" panose="020F0502020204030204" pitchFamily="34" charset="0"/>
                <a:cs typeface="Times New Roman" panose="02020603050405020304" pitchFamily="18" charset="0"/>
              </a:rPr>
              <a:t>f1 = @(t) sin(t);f2 = @(t) </a:t>
            </a:r>
            <a:r>
              <a:rPr lang="es-ES_tradnl" sz="2400" dirty="0" err="1">
                <a:ea typeface="Calibri" panose="020F0502020204030204" pitchFamily="34" charset="0"/>
                <a:cs typeface="Times New Roman" panose="02020603050405020304" pitchFamily="18" charset="0"/>
              </a:rPr>
              <a:t>cos</a:t>
            </a:r>
            <a:r>
              <a:rPr lang="es-ES_tradnl" sz="2400" dirty="0">
                <a:ea typeface="Calibri" panose="020F0502020204030204" pitchFamily="34" charset="0"/>
                <a:cs typeface="Times New Roman" panose="02020603050405020304" pitchFamily="18" charset="0"/>
              </a:rPr>
              <a:t>(t);</a:t>
            </a:r>
            <a:endParaRPr lang="es-AR" sz="2400" dirty="0">
              <a:ea typeface="Calibri" panose="020F0502020204030204" pitchFamily="34" charset="0"/>
              <a:cs typeface="Times New Roman" panose="02020603050405020304" pitchFamily="18" charset="0"/>
            </a:endParaRPr>
          </a:p>
          <a:p>
            <a:pPr>
              <a:lnSpc>
                <a:spcPct val="115000"/>
              </a:lnSpc>
              <a:spcAft>
                <a:spcPts val="1000"/>
              </a:spcAft>
            </a:pPr>
            <a:r>
              <a:rPr lang="es-ES_tradnl" sz="2400" dirty="0" err="1">
                <a:ea typeface="Calibri" panose="020F0502020204030204" pitchFamily="34" charset="0"/>
                <a:cs typeface="Times New Roman" panose="02020603050405020304" pitchFamily="18" charset="0"/>
              </a:rPr>
              <a:t>ezplot</a:t>
            </a:r>
            <a:r>
              <a:rPr lang="es-ES_tradnl" sz="2400" dirty="0">
                <a:ea typeface="Calibri" panose="020F0502020204030204" pitchFamily="34" charset="0"/>
                <a:cs typeface="Times New Roman" panose="02020603050405020304" pitchFamily="18" charset="0"/>
              </a:rPr>
              <a:t>(f1,f2,[-1.5,1.5])</a:t>
            </a:r>
            <a:endParaRPr lang="es-AR" sz="2400" dirty="0">
              <a:ea typeface="Calibri" panose="020F0502020204030204" pitchFamily="34" charset="0"/>
              <a:cs typeface="Times New Roman" panose="02020603050405020304" pitchFamily="18" charset="0"/>
            </a:endParaRPr>
          </a:p>
        </p:txBody>
      </p:sp>
      <p:sp>
        <p:nvSpPr>
          <p:cNvPr id="7" name="Flecha derecha 6"/>
          <p:cNvSpPr/>
          <p:nvPr/>
        </p:nvSpPr>
        <p:spPr>
          <a:xfrm>
            <a:off x="3590223" y="212750"/>
            <a:ext cx="1998846" cy="21275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8" name="Rectángulo 7"/>
          <p:cNvSpPr/>
          <p:nvPr/>
        </p:nvSpPr>
        <p:spPr>
          <a:xfrm>
            <a:off x="202139" y="3519086"/>
            <a:ext cx="7170813" cy="923330"/>
          </a:xfrm>
          <a:prstGeom prst="rect">
            <a:avLst/>
          </a:prstGeom>
        </p:spPr>
        <p:txBody>
          <a:bodyPr wrap="square">
            <a:spAutoFit/>
          </a:bodyPr>
          <a:lstStyle/>
          <a:p>
            <a:r>
              <a:rPr lang="es-ES_tradnl" dirty="0">
                <a:highlight>
                  <a:srgbClr val="FFFF00"/>
                </a:highlight>
                <a:latin typeface="Calibri" panose="020F0502020204030204" pitchFamily="34" charset="0"/>
                <a:ea typeface="Calibri" panose="020F0502020204030204" pitchFamily="34" charset="0"/>
                <a:cs typeface="Courier New" panose="02070309020205020404" pitchFamily="49" charset="0"/>
              </a:rPr>
              <a:t>PLOT(X,Y)</a:t>
            </a:r>
            <a:r>
              <a:rPr lang="es-ES_tradnl" dirty="0">
                <a:latin typeface="Calibri" panose="020F0502020204030204" pitchFamily="34" charset="0"/>
                <a:ea typeface="Calibri" panose="020F0502020204030204" pitchFamily="34" charset="0"/>
                <a:cs typeface="Courier New" panose="02070309020205020404" pitchFamily="49" charset="0"/>
              </a:rPr>
              <a:t> grafica el vector Y versus el vector X. si X o Y es una matriz, entonces el vector es graficado versus las filas o columnas de la matriz,  lo que se alinea</a:t>
            </a:r>
            <a:endParaRPr lang="es-AR" dirty="0"/>
          </a:p>
        </p:txBody>
      </p:sp>
      <p:pic>
        <p:nvPicPr>
          <p:cNvPr id="9" name="Imagen 8"/>
          <p:cNvPicPr>
            <a:picLocks noChangeAspect="1"/>
          </p:cNvPicPr>
          <p:nvPr/>
        </p:nvPicPr>
        <p:blipFill rotWithShape="1">
          <a:blip r:embed="rId3">
            <a:extLst>
              <a:ext uri="{28A0092B-C50C-407E-A947-70E740481C1C}">
                <a14:useLocalDpi xmlns:a14="http://schemas.microsoft.com/office/drawing/2010/main" val="0"/>
              </a:ext>
            </a:extLst>
          </a:blip>
          <a:srcRect l="9514" t="6386" r="7829" b="6506"/>
          <a:stretch/>
        </p:blipFill>
        <p:spPr>
          <a:xfrm>
            <a:off x="7613582" y="3220703"/>
            <a:ext cx="4326961" cy="3420000"/>
          </a:xfrm>
          <a:prstGeom prst="rect">
            <a:avLst/>
          </a:prstGeom>
        </p:spPr>
      </p:pic>
      <p:sp>
        <p:nvSpPr>
          <p:cNvPr id="10" name="Rectángulo 9"/>
          <p:cNvSpPr/>
          <p:nvPr/>
        </p:nvSpPr>
        <p:spPr>
          <a:xfrm>
            <a:off x="824564" y="4662080"/>
            <a:ext cx="6096000" cy="916854"/>
          </a:xfrm>
          <a:prstGeom prst="rect">
            <a:avLst/>
          </a:prstGeom>
        </p:spPr>
        <p:txBody>
          <a:bodyPr>
            <a:spAutoFit/>
          </a:bodyPr>
          <a:lstStyle/>
          <a:p>
            <a:pPr>
              <a:lnSpc>
                <a:spcPct val="115000"/>
              </a:lnSpc>
              <a:spcAft>
                <a:spcPts val="0"/>
              </a:spcAft>
            </a:pPr>
            <a:r>
              <a:rPr lang="es-ES_tradnl" sz="2400" dirty="0">
                <a:ea typeface="Calibri" panose="020F0502020204030204" pitchFamily="34" charset="0"/>
                <a:cs typeface="Times New Roman" panose="02020603050405020304" pitchFamily="18" charset="0"/>
              </a:rPr>
              <a:t>x=[1 2 3 4];y=[2 4 8 16;1 2 3 4];</a:t>
            </a:r>
            <a:endParaRPr lang="es-AR" sz="2400" dirty="0">
              <a:ea typeface="Calibri" panose="020F0502020204030204" pitchFamily="34" charset="0"/>
              <a:cs typeface="Times New Roman" panose="02020603050405020304" pitchFamily="18" charset="0"/>
            </a:endParaRPr>
          </a:p>
          <a:p>
            <a:pPr>
              <a:lnSpc>
                <a:spcPct val="115000"/>
              </a:lnSpc>
              <a:spcAft>
                <a:spcPts val="0"/>
              </a:spcAft>
            </a:pPr>
            <a:r>
              <a:rPr lang="es-ES_tradnl" sz="2400" dirty="0" err="1">
                <a:ea typeface="Calibri" panose="020F0502020204030204" pitchFamily="34" charset="0"/>
                <a:cs typeface="Times New Roman" panose="02020603050405020304" pitchFamily="18" charset="0"/>
              </a:rPr>
              <a:t>plot</a:t>
            </a:r>
            <a:r>
              <a:rPr lang="es-ES_tradnl" sz="2400" dirty="0">
                <a:ea typeface="Calibri" panose="020F0502020204030204" pitchFamily="34" charset="0"/>
                <a:cs typeface="Times New Roman" panose="02020603050405020304" pitchFamily="18" charset="0"/>
              </a:rPr>
              <a:t>(</a:t>
            </a:r>
            <a:r>
              <a:rPr lang="es-ES_tradnl" sz="2400" dirty="0" err="1">
                <a:ea typeface="Calibri" panose="020F0502020204030204" pitchFamily="34" charset="0"/>
                <a:cs typeface="Times New Roman" panose="02020603050405020304" pitchFamily="18" charset="0"/>
              </a:rPr>
              <a:t>x,y</a:t>
            </a:r>
            <a:r>
              <a:rPr lang="es-ES_tradnl" sz="2400" dirty="0">
                <a:ea typeface="Calibri" panose="020F0502020204030204" pitchFamily="34" charset="0"/>
                <a:cs typeface="Times New Roman" panose="02020603050405020304" pitchFamily="18" charset="0"/>
              </a:rPr>
              <a:t>)</a:t>
            </a:r>
            <a:endParaRPr lang="es-AR" sz="2400" dirty="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259258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175491" y="256430"/>
            <a:ext cx="4793673" cy="729430"/>
          </a:xfrm>
          <a:prstGeom prst="rect">
            <a:avLst/>
          </a:prstGeom>
        </p:spPr>
        <p:txBody>
          <a:bodyPr wrap="square">
            <a:spAutoFit/>
          </a:bodyPr>
          <a:lstStyle/>
          <a:p>
            <a:pPr>
              <a:lnSpc>
                <a:spcPct val="115000"/>
              </a:lnSpc>
              <a:spcAft>
                <a:spcPts val="0"/>
              </a:spcAft>
            </a:pPr>
            <a:r>
              <a:rPr lang="es-ES_tradnl" dirty="0">
                <a:latin typeface="Courier New" panose="02070309020205020404" pitchFamily="49" charset="0"/>
                <a:ea typeface="Calibri" panose="020F0502020204030204" pitchFamily="34" charset="0"/>
                <a:cs typeface="Times New Roman" panose="02020603050405020304" pitchFamily="18" charset="0"/>
              </a:rPr>
              <a:t>y=[1 2 3 4];x=[2 4 8 16;1 2 3 4];</a:t>
            </a:r>
            <a:endParaRPr lang="es-AR"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s-ES_tradnl" dirty="0" err="1">
                <a:latin typeface="Courier New" panose="02070309020205020404" pitchFamily="49" charset="0"/>
                <a:ea typeface="Calibri" panose="020F0502020204030204" pitchFamily="34" charset="0"/>
                <a:cs typeface="Times New Roman" panose="02020603050405020304" pitchFamily="18" charset="0"/>
              </a:rPr>
              <a:t>plot</a:t>
            </a:r>
            <a:r>
              <a:rPr lang="es-ES_tradnl" dirty="0">
                <a:latin typeface="Courier New" panose="02070309020205020404" pitchFamily="49" charset="0"/>
                <a:ea typeface="Calibri" panose="020F0502020204030204" pitchFamily="34" charset="0"/>
                <a:cs typeface="Times New Roman" panose="02020603050405020304" pitchFamily="18" charset="0"/>
              </a:rPr>
              <a:t>(</a:t>
            </a:r>
            <a:r>
              <a:rPr lang="es-ES_tradnl" dirty="0" err="1">
                <a:latin typeface="Courier New" panose="02070309020205020404" pitchFamily="49" charset="0"/>
                <a:ea typeface="Calibri" panose="020F0502020204030204" pitchFamily="34" charset="0"/>
                <a:cs typeface="Times New Roman" panose="02020603050405020304" pitchFamily="18" charset="0"/>
              </a:rPr>
              <a:t>x,y</a:t>
            </a:r>
            <a:r>
              <a:rPr lang="es-ES_tradnl" dirty="0">
                <a:latin typeface="Courier New" panose="02070309020205020404" pitchFamily="49" charset="0"/>
                <a:ea typeface="Calibri" panose="020F0502020204030204" pitchFamily="34" charset="0"/>
                <a:cs typeface="Times New Roman" panose="02020603050405020304" pitchFamily="18" charset="0"/>
              </a:rPr>
              <a:t>)</a:t>
            </a:r>
            <a:endParaRPr lang="es-AR" dirty="0">
              <a:latin typeface="Calibri" panose="020F0502020204030204" pitchFamily="34" charset="0"/>
              <a:ea typeface="Calibri" panose="020F0502020204030204" pitchFamily="34" charset="0"/>
              <a:cs typeface="Times New Roman" panose="02020603050405020304" pitchFamily="18" charset="0"/>
            </a:endParaRPr>
          </a:p>
        </p:txBody>
      </p:sp>
      <p:pic>
        <p:nvPicPr>
          <p:cNvPr id="5" name="Imagen 4"/>
          <p:cNvPicPr>
            <a:picLocks noChangeAspect="1"/>
          </p:cNvPicPr>
          <p:nvPr/>
        </p:nvPicPr>
        <p:blipFill rotWithShape="1">
          <a:blip r:embed="rId2">
            <a:extLst>
              <a:ext uri="{28A0092B-C50C-407E-A947-70E740481C1C}">
                <a14:useLocalDpi xmlns:a14="http://schemas.microsoft.com/office/drawing/2010/main" val="0"/>
              </a:ext>
            </a:extLst>
          </a:blip>
          <a:srcRect l="8349" t="4911" r="7138" b="5266"/>
          <a:stretch/>
        </p:blipFill>
        <p:spPr>
          <a:xfrm>
            <a:off x="175491" y="914401"/>
            <a:ext cx="4335546" cy="3456000"/>
          </a:xfrm>
          <a:prstGeom prst="rect">
            <a:avLst/>
          </a:prstGeom>
        </p:spPr>
      </p:pic>
      <p:sp>
        <p:nvSpPr>
          <p:cNvPr id="6" name="Rectángulo 5"/>
          <p:cNvSpPr/>
          <p:nvPr/>
        </p:nvSpPr>
        <p:spPr>
          <a:xfrm>
            <a:off x="5495636" y="102349"/>
            <a:ext cx="6096000" cy="1037592"/>
          </a:xfrm>
          <a:prstGeom prst="rect">
            <a:avLst/>
          </a:prstGeom>
        </p:spPr>
        <p:txBody>
          <a:bodyPr>
            <a:spAutoFit/>
          </a:bodyPr>
          <a:lstStyle/>
          <a:p>
            <a:pPr>
              <a:lnSpc>
                <a:spcPct val="115000"/>
              </a:lnSpc>
              <a:spcAft>
                <a:spcPts val="0"/>
              </a:spcAft>
            </a:pPr>
            <a:r>
              <a:rPr lang="es-ES_tradnl" dirty="0">
                <a:latin typeface="Calibri" panose="020F0502020204030204" pitchFamily="34" charset="0"/>
                <a:ea typeface="Calibri" panose="020F0502020204030204" pitchFamily="34" charset="0"/>
                <a:cs typeface="Courier New" panose="02070309020205020404" pitchFamily="49" charset="0"/>
              </a:rPr>
              <a:t>PLOT(Y) grafica las columnas de Y versus su índice.</a:t>
            </a:r>
            <a:endParaRPr lang="es-AR"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s-ES_tradnl" dirty="0">
                <a:latin typeface="Courier New" panose="02070309020205020404" pitchFamily="49" charset="0"/>
                <a:ea typeface="Calibri" panose="020F0502020204030204" pitchFamily="34" charset="0"/>
                <a:cs typeface="Times New Roman" panose="02020603050405020304" pitchFamily="18" charset="0"/>
              </a:rPr>
              <a:t>y=[1 2 4 8];</a:t>
            </a:r>
            <a:endParaRPr lang="es-AR"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s-ES_tradnl" dirty="0" err="1">
                <a:latin typeface="Courier New" panose="02070309020205020404" pitchFamily="49" charset="0"/>
                <a:ea typeface="Calibri" panose="020F0502020204030204" pitchFamily="34" charset="0"/>
                <a:cs typeface="Times New Roman" panose="02020603050405020304" pitchFamily="18" charset="0"/>
              </a:rPr>
              <a:t>plot</a:t>
            </a:r>
            <a:r>
              <a:rPr lang="es-ES_tradnl" dirty="0">
                <a:latin typeface="Courier New" panose="02070309020205020404" pitchFamily="49" charset="0"/>
                <a:ea typeface="Calibri" panose="020F0502020204030204" pitchFamily="34" charset="0"/>
                <a:cs typeface="Times New Roman" panose="02020603050405020304" pitchFamily="18" charset="0"/>
              </a:rPr>
              <a:t>(y)</a:t>
            </a:r>
            <a:endParaRPr lang="es-AR" dirty="0">
              <a:latin typeface="Calibri" panose="020F0502020204030204" pitchFamily="34" charset="0"/>
              <a:ea typeface="Calibri" panose="020F0502020204030204" pitchFamily="34" charset="0"/>
              <a:cs typeface="Times New Roman" panose="02020603050405020304" pitchFamily="18" charset="0"/>
            </a:endParaRPr>
          </a:p>
        </p:txBody>
      </p:sp>
      <p:pic>
        <p:nvPicPr>
          <p:cNvPr id="7" name="Imagen 6"/>
          <p:cNvPicPr>
            <a:picLocks noChangeAspect="1"/>
          </p:cNvPicPr>
          <p:nvPr/>
        </p:nvPicPr>
        <p:blipFill rotWithShape="1">
          <a:blip r:embed="rId3">
            <a:extLst>
              <a:ext uri="{28A0092B-C50C-407E-A947-70E740481C1C}">
                <a14:useLocalDpi xmlns:a14="http://schemas.microsoft.com/office/drawing/2010/main" val="0"/>
              </a:ext>
            </a:extLst>
          </a:blip>
          <a:srcRect l="9476" t="5310" r="6531" b="5097"/>
          <a:stretch/>
        </p:blipFill>
        <p:spPr>
          <a:xfrm>
            <a:off x="7222836" y="914401"/>
            <a:ext cx="4479636" cy="3583710"/>
          </a:xfrm>
          <a:prstGeom prst="rect">
            <a:avLst/>
          </a:prstGeom>
        </p:spPr>
      </p:pic>
      <p:sp>
        <p:nvSpPr>
          <p:cNvPr id="8" name="Rectángulo 7"/>
          <p:cNvSpPr/>
          <p:nvPr/>
        </p:nvSpPr>
        <p:spPr>
          <a:xfrm>
            <a:off x="332509" y="4545389"/>
            <a:ext cx="9880600" cy="1560427"/>
          </a:xfrm>
          <a:prstGeom prst="rect">
            <a:avLst/>
          </a:prstGeom>
        </p:spPr>
        <p:txBody>
          <a:bodyPr wrap="square">
            <a:spAutoFit/>
          </a:bodyPr>
          <a:lstStyle/>
          <a:p>
            <a:pPr>
              <a:lnSpc>
                <a:spcPct val="115000"/>
              </a:lnSpc>
              <a:spcAft>
                <a:spcPts val="0"/>
              </a:spcAft>
            </a:pPr>
            <a:r>
              <a:rPr lang="es-ES_tradnl" dirty="0">
                <a:latin typeface="Calibri" panose="020F0502020204030204" pitchFamily="34" charset="0"/>
                <a:ea typeface="Calibri" panose="020F0502020204030204" pitchFamily="34" charset="0"/>
                <a:cs typeface="Courier New" panose="02070309020205020404" pitchFamily="49" charset="0"/>
              </a:rPr>
              <a:t>Si Y es complejo, PLOT(Y) es equivalente a PLOT(real(Y),</a:t>
            </a:r>
            <a:r>
              <a:rPr lang="es-ES_tradnl" dirty="0" err="1">
                <a:latin typeface="Calibri" panose="020F0502020204030204" pitchFamily="34" charset="0"/>
                <a:ea typeface="Calibri" panose="020F0502020204030204" pitchFamily="34" charset="0"/>
                <a:cs typeface="Courier New" panose="02070309020205020404" pitchFamily="49" charset="0"/>
              </a:rPr>
              <a:t>imag</a:t>
            </a:r>
            <a:r>
              <a:rPr lang="es-ES_tradnl" dirty="0">
                <a:latin typeface="Calibri" panose="020F0502020204030204" pitchFamily="34" charset="0"/>
                <a:ea typeface="Calibri" panose="020F0502020204030204" pitchFamily="34" charset="0"/>
                <a:cs typeface="Courier New" panose="02070309020205020404" pitchFamily="49" charset="0"/>
              </a:rPr>
              <a:t>(Y)).</a:t>
            </a:r>
            <a:endParaRPr lang="es-AR"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s-ES_tradnl" dirty="0">
                <a:latin typeface="Calibri" panose="020F0502020204030204" pitchFamily="34" charset="0"/>
                <a:ea typeface="Calibri" panose="020F0502020204030204" pitchFamily="34" charset="0"/>
                <a:cs typeface="Courier New" panose="02070309020205020404" pitchFamily="49" charset="0"/>
              </a:rPr>
              <a:t>En todos los otros usos de PLOT, la parte imaginaria es ignorada.</a:t>
            </a:r>
          </a:p>
          <a:p>
            <a:r>
              <a:rPr lang="es-ES_tradnl" dirty="0"/>
              <a:t>x=-1:-1:-10;</a:t>
            </a:r>
            <a:endParaRPr lang="es-AR" dirty="0"/>
          </a:p>
          <a:p>
            <a:r>
              <a:rPr lang="es-ES_tradnl" dirty="0"/>
              <a:t>y=log(x);</a:t>
            </a:r>
            <a:endParaRPr lang="es-AR" dirty="0"/>
          </a:p>
          <a:p>
            <a:r>
              <a:rPr lang="es-ES_tradnl" dirty="0" err="1"/>
              <a:t>plot</a:t>
            </a:r>
            <a:r>
              <a:rPr lang="es-ES_tradnl" dirty="0"/>
              <a:t>(</a:t>
            </a:r>
            <a:r>
              <a:rPr lang="es-ES_tradnl" dirty="0" err="1"/>
              <a:t>x,y</a:t>
            </a:r>
            <a:r>
              <a:rPr lang="es-ES_tradnl" dirty="0"/>
              <a:t>)</a:t>
            </a:r>
            <a:endParaRPr lang="es-AR"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108305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73891" y="112456"/>
            <a:ext cx="12118109" cy="4941353"/>
          </a:xfrm>
          <a:prstGeom prst="rect">
            <a:avLst/>
          </a:prstGeom>
        </p:spPr>
        <p:txBody>
          <a:bodyPr wrap="square">
            <a:spAutoFit/>
          </a:bodyPr>
          <a:lstStyle/>
          <a:p>
            <a:pPr>
              <a:lnSpc>
                <a:spcPct val="115000"/>
              </a:lnSpc>
              <a:spcAft>
                <a:spcPts val="0"/>
              </a:spcAft>
            </a:pPr>
            <a:r>
              <a:rPr lang="es-ES_tradnl" sz="2400" dirty="0">
                <a:effectLst/>
                <a:latin typeface="Calibri" panose="020F0502020204030204" pitchFamily="34" charset="0"/>
                <a:ea typeface="Calibri" panose="020F0502020204030204" pitchFamily="34" charset="0"/>
                <a:cs typeface="Courier New" panose="02070309020205020404" pitchFamily="49" charset="0"/>
              </a:rPr>
              <a:t>Se pueden obtener varios tipos de líneas, símbolos y colores con  </a:t>
            </a:r>
            <a:r>
              <a:rPr lang="es-ES_tradnl" sz="2400" i="1" dirty="0">
                <a:effectLst/>
                <a:latin typeface="Calibri" panose="020F0502020204030204" pitchFamily="34" charset="0"/>
                <a:ea typeface="Calibri" panose="020F0502020204030204" pitchFamily="34" charset="0"/>
                <a:cs typeface="Courier New" panose="02070309020205020404" pitchFamily="49" charset="0"/>
              </a:rPr>
              <a:t>PLOT(X,Y,S)</a:t>
            </a:r>
            <a:r>
              <a:rPr lang="es-ES_tradnl" sz="2400" dirty="0">
                <a:effectLst/>
                <a:latin typeface="Calibri" panose="020F0502020204030204" pitchFamily="34" charset="0"/>
                <a:ea typeface="Calibri" panose="020F0502020204030204" pitchFamily="34" charset="0"/>
                <a:cs typeface="Courier New" panose="02070309020205020404" pitchFamily="49" charset="0"/>
              </a:rPr>
              <a:t> donde </a:t>
            </a:r>
            <a:r>
              <a:rPr lang="es-ES_tradnl" sz="2400" i="1" dirty="0">
                <a:effectLst/>
                <a:latin typeface="Calibri" panose="020F0502020204030204" pitchFamily="34" charset="0"/>
                <a:ea typeface="Calibri" panose="020F0502020204030204" pitchFamily="34" charset="0"/>
                <a:cs typeface="Courier New" panose="02070309020205020404" pitchFamily="49" charset="0"/>
              </a:rPr>
              <a:t>S</a:t>
            </a:r>
            <a:r>
              <a:rPr lang="es-ES_tradnl" sz="2400" dirty="0">
                <a:effectLst/>
                <a:latin typeface="Calibri" panose="020F0502020204030204" pitchFamily="34" charset="0"/>
                <a:ea typeface="Calibri" panose="020F0502020204030204" pitchFamily="34" charset="0"/>
                <a:cs typeface="Courier New" panose="02070309020205020404" pitchFamily="49" charset="0"/>
              </a:rPr>
              <a:t> es una cadena de caracteres hecha desde un elemento desde las siguientes 3 columnas:</a:t>
            </a:r>
            <a:endParaRPr lang="es-AR" sz="2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s-ES_tradnl" sz="2800" dirty="0">
                <a:effectLst/>
                <a:latin typeface="Calibri" panose="020F0502020204030204" pitchFamily="34" charset="0"/>
                <a:ea typeface="Calibri" panose="020F0502020204030204" pitchFamily="34" charset="0"/>
                <a:cs typeface="Courier New" panose="02070309020205020404" pitchFamily="49" charset="0"/>
              </a:rPr>
              <a:t> </a:t>
            </a:r>
            <a:endParaRPr lang="es-AR" sz="2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s-ES_tradnl" dirty="0">
                <a:latin typeface="Courier New" panose="02070309020205020404" pitchFamily="49" charset="0"/>
                <a:ea typeface="Calibri" panose="020F0502020204030204" pitchFamily="34" charset="0"/>
                <a:cs typeface="Times New Roman" panose="02020603050405020304" pitchFamily="18" charset="0"/>
              </a:rPr>
              <a:t>           </a:t>
            </a:r>
            <a:r>
              <a:rPr lang="en-US" dirty="0">
                <a:latin typeface="Courier New" panose="02070309020205020404" pitchFamily="49" charset="0"/>
                <a:ea typeface="Calibri" panose="020F0502020204030204" pitchFamily="34" charset="0"/>
                <a:cs typeface="Times New Roman" panose="02020603050405020304" pitchFamily="18" charset="0"/>
              </a:rPr>
              <a:t>b     blue          .     point              -     solid</a:t>
            </a:r>
            <a:endParaRPr lang="es-AR" sz="2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dirty="0">
                <a:latin typeface="Courier New" panose="02070309020205020404" pitchFamily="49" charset="0"/>
                <a:ea typeface="Calibri" panose="020F0502020204030204" pitchFamily="34" charset="0"/>
                <a:cs typeface="Times New Roman" panose="02020603050405020304" pitchFamily="18" charset="0"/>
              </a:rPr>
              <a:t>           g     green         o     circle             :     dotted</a:t>
            </a:r>
            <a:endParaRPr lang="es-AR" sz="2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dirty="0">
                <a:latin typeface="Courier New" panose="02070309020205020404" pitchFamily="49" charset="0"/>
                <a:ea typeface="Calibri" panose="020F0502020204030204" pitchFamily="34" charset="0"/>
                <a:cs typeface="Times New Roman" panose="02020603050405020304" pitchFamily="18" charset="0"/>
              </a:rPr>
              <a:t>           r     red           x     x-mark             -.    </a:t>
            </a:r>
            <a:r>
              <a:rPr lang="en-US" dirty="0" err="1">
                <a:latin typeface="Courier New" panose="02070309020205020404" pitchFamily="49" charset="0"/>
                <a:ea typeface="Calibri" panose="020F0502020204030204" pitchFamily="34" charset="0"/>
                <a:cs typeface="Times New Roman" panose="02020603050405020304" pitchFamily="18" charset="0"/>
              </a:rPr>
              <a:t>dashdot</a:t>
            </a:r>
            <a:r>
              <a:rPr lang="en-US" dirty="0">
                <a:latin typeface="Courier New" panose="02070309020205020404" pitchFamily="49" charset="0"/>
                <a:ea typeface="Calibri" panose="020F0502020204030204" pitchFamily="34" charset="0"/>
                <a:cs typeface="Times New Roman" panose="02020603050405020304" pitchFamily="18" charset="0"/>
              </a:rPr>
              <a:t> </a:t>
            </a:r>
            <a:endParaRPr lang="es-AR" sz="2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dirty="0">
                <a:latin typeface="Courier New" panose="02070309020205020404" pitchFamily="49" charset="0"/>
                <a:ea typeface="Calibri" panose="020F0502020204030204" pitchFamily="34" charset="0"/>
                <a:cs typeface="Times New Roman" panose="02020603050405020304" pitchFamily="18" charset="0"/>
              </a:rPr>
              <a:t>           c     cyan          +     plus               --    dashed   </a:t>
            </a:r>
            <a:endParaRPr lang="es-AR" sz="2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dirty="0">
                <a:latin typeface="Courier New" panose="02070309020205020404" pitchFamily="49" charset="0"/>
                <a:ea typeface="Calibri" panose="020F0502020204030204" pitchFamily="34" charset="0"/>
                <a:cs typeface="Times New Roman" panose="02020603050405020304" pitchFamily="18" charset="0"/>
              </a:rPr>
              <a:t>           m     magenta       *     star             (none)  no line</a:t>
            </a:r>
            <a:endParaRPr lang="es-AR" sz="2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dirty="0">
                <a:latin typeface="Courier New" panose="02070309020205020404" pitchFamily="49" charset="0"/>
                <a:ea typeface="Calibri" panose="020F0502020204030204" pitchFamily="34" charset="0"/>
                <a:cs typeface="Times New Roman" panose="02020603050405020304" pitchFamily="18" charset="0"/>
              </a:rPr>
              <a:t>           y     yellow        s     square</a:t>
            </a:r>
            <a:endParaRPr lang="es-AR" sz="2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dirty="0">
                <a:latin typeface="Courier New" panose="02070309020205020404" pitchFamily="49" charset="0"/>
                <a:ea typeface="Calibri" panose="020F0502020204030204" pitchFamily="34" charset="0"/>
                <a:cs typeface="Times New Roman" panose="02020603050405020304" pitchFamily="18" charset="0"/>
              </a:rPr>
              <a:t>           k     black         d     diamond</a:t>
            </a:r>
            <a:endParaRPr lang="es-AR" sz="2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dirty="0">
                <a:latin typeface="Courier New" panose="02070309020205020404" pitchFamily="49" charset="0"/>
                <a:ea typeface="Calibri" panose="020F0502020204030204" pitchFamily="34" charset="0"/>
                <a:cs typeface="Times New Roman" panose="02020603050405020304" pitchFamily="18" charset="0"/>
              </a:rPr>
              <a:t>           w     white         v     triangle (down)</a:t>
            </a:r>
            <a:endParaRPr lang="es-AR" sz="2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dirty="0">
                <a:latin typeface="Courier New" panose="02070309020205020404" pitchFamily="49" charset="0"/>
                <a:ea typeface="Calibri" panose="020F0502020204030204" pitchFamily="34" charset="0"/>
                <a:cs typeface="Times New Roman" panose="02020603050405020304" pitchFamily="18" charset="0"/>
              </a:rPr>
              <a:t>                               ^     triangle (up)</a:t>
            </a:r>
            <a:endParaRPr lang="es-AR" sz="2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dirty="0">
                <a:latin typeface="Courier New" panose="02070309020205020404" pitchFamily="49" charset="0"/>
                <a:ea typeface="Calibri" panose="020F0502020204030204" pitchFamily="34" charset="0"/>
                <a:cs typeface="Times New Roman" panose="02020603050405020304" pitchFamily="18" charset="0"/>
              </a:rPr>
              <a:t>                               &lt;     triangle (left)</a:t>
            </a:r>
            <a:endParaRPr lang="es-AR" sz="2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dirty="0">
                <a:latin typeface="Courier New" panose="02070309020205020404" pitchFamily="49" charset="0"/>
                <a:ea typeface="Calibri" panose="020F0502020204030204" pitchFamily="34" charset="0"/>
                <a:cs typeface="Times New Roman" panose="02020603050405020304" pitchFamily="18" charset="0"/>
              </a:rPr>
              <a:t>                               &gt;     triangle (right)</a:t>
            </a:r>
            <a:endParaRPr lang="es-AR" sz="2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290163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184727" y="191775"/>
            <a:ext cx="6096000" cy="800219"/>
          </a:xfrm>
          <a:prstGeom prst="rect">
            <a:avLst/>
          </a:prstGeom>
        </p:spPr>
        <p:txBody>
          <a:bodyPr>
            <a:spAutoFit/>
          </a:bodyPr>
          <a:lstStyle/>
          <a:p>
            <a:pPr>
              <a:lnSpc>
                <a:spcPct val="115000"/>
              </a:lnSpc>
              <a:spcAft>
                <a:spcPts val="0"/>
              </a:spcAft>
            </a:pPr>
            <a:r>
              <a:rPr lang="en-US" sz="2000" dirty="0">
                <a:ea typeface="Calibri" panose="020F0502020204030204" pitchFamily="34" charset="0"/>
                <a:cs typeface="Times New Roman" panose="02020603050405020304" pitchFamily="18" charset="0"/>
              </a:rPr>
              <a:t>X=[1 2 3 4];Y=[2 4 8 16];</a:t>
            </a:r>
            <a:endParaRPr lang="es-AR" sz="2000" dirty="0">
              <a:ea typeface="Calibri" panose="020F0502020204030204" pitchFamily="34" charset="0"/>
              <a:cs typeface="Times New Roman" panose="02020603050405020304" pitchFamily="18" charset="0"/>
            </a:endParaRPr>
          </a:p>
          <a:p>
            <a:pPr>
              <a:lnSpc>
                <a:spcPct val="115000"/>
              </a:lnSpc>
              <a:spcAft>
                <a:spcPts val="0"/>
              </a:spcAft>
            </a:pPr>
            <a:r>
              <a:rPr lang="es-ES_tradnl" sz="2000" dirty="0" err="1">
                <a:ea typeface="Calibri" panose="020F0502020204030204" pitchFamily="34" charset="0"/>
                <a:cs typeface="Times New Roman" panose="02020603050405020304" pitchFamily="18" charset="0"/>
              </a:rPr>
              <a:t>plot</a:t>
            </a:r>
            <a:r>
              <a:rPr lang="es-ES_tradnl" sz="2000" dirty="0">
                <a:ea typeface="Calibri" panose="020F0502020204030204" pitchFamily="34" charset="0"/>
                <a:cs typeface="Times New Roman" panose="02020603050405020304" pitchFamily="18" charset="0"/>
              </a:rPr>
              <a:t>(</a:t>
            </a:r>
            <a:r>
              <a:rPr lang="es-ES_tradnl" sz="2000" dirty="0" err="1">
                <a:ea typeface="Calibri" panose="020F0502020204030204" pitchFamily="34" charset="0"/>
                <a:cs typeface="Times New Roman" panose="02020603050405020304" pitchFamily="18" charset="0"/>
              </a:rPr>
              <a:t>X,Y,'b</a:t>
            </a:r>
            <a:r>
              <a:rPr lang="es-ES_tradnl" sz="2000" dirty="0">
                <a:ea typeface="Calibri" panose="020F0502020204030204" pitchFamily="34" charset="0"/>
                <a:cs typeface="Times New Roman" panose="02020603050405020304" pitchFamily="18" charset="0"/>
              </a:rPr>
              <a:t>+:')</a:t>
            </a:r>
            <a:endParaRPr lang="es-AR" sz="2000" dirty="0">
              <a:ea typeface="Calibri" panose="020F0502020204030204" pitchFamily="34" charset="0"/>
              <a:cs typeface="Times New Roman" panose="02020603050405020304" pitchFamily="18" charset="0"/>
            </a:endParaRPr>
          </a:p>
        </p:txBody>
      </p:sp>
      <p:pic>
        <p:nvPicPr>
          <p:cNvPr id="1026" name="Imagen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518" y="991994"/>
            <a:ext cx="3440940" cy="271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ángulo 4"/>
          <p:cNvSpPr/>
          <p:nvPr/>
        </p:nvSpPr>
        <p:spPr>
          <a:xfrm>
            <a:off x="81518" y="3877084"/>
            <a:ext cx="3548373" cy="1047979"/>
          </a:xfrm>
          <a:prstGeom prst="rect">
            <a:avLst/>
          </a:prstGeom>
        </p:spPr>
        <p:txBody>
          <a:bodyPr wrap="square">
            <a:spAutoFit/>
          </a:bodyPr>
          <a:lstStyle/>
          <a:p>
            <a:pPr>
              <a:lnSpc>
                <a:spcPct val="115000"/>
              </a:lnSpc>
              <a:spcAft>
                <a:spcPts val="0"/>
              </a:spcAft>
            </a:pPr>
            <a:r>
              <a:rPr lang="es-ES_tradnl" dirty="0">
                <a:latin typeface="Calibri" panose="020F0502020204030204" pitchFamily="34" charset="0"/>
                <a:ea typeface="Calibri" panose="020F0502020204030204" pitchFamily="34" charset="0"/>
                <a:cs typeface="Courier New" panose="02070309020205020404" pitchFamily="49" charset="0"/>
              </a:rPr>
              <a:t>Grafica una línea de puntos (:) azul (b) con un signo más (+) en cada punto dato.</a:t>
            </a:r>
            <a:endParaRPr lang="es-AR" dirty="0">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ángulo 5"/>
          <p:cNvSpPr/>
          <p:nvPr/>
        </p:nvSpPr>
        <p:spPr>
          <a:xfrm>
            <a:off x="4350326" y="71856"/>
            <a:ext cx="7730837" cy="646331"/>
          </a:xfrm>
          <a:prstGeom prst="rect">
            <a:avLst/>
          </a:prstGeom>
        </p:spPr>
        <p:txBody>
          <a:bodyPr wrap="square">
            <a:spAutoFit/>
          </a:bodyPr>
          <a:lstStyle/>
          <a:p>
            <a:pPr algn="just"/>
            <a:r>
              <a:rPr lang="es-ES_tradnl" dirty="0">
                <a:latin typeface="Calibri" panose="020F0502020204030204" pitchFamily="34" charset="0"/>
                <a:ea typeface="Calibri" panose="020F0502020204030204" pitchFamily="34" charset="0"/>
                <a:cs typeface="Courier New" panose="02070309020205020404" pitchFamily="49" charset="0"/>
              </a:rPr>
              <a:t> </a:t>
            </a:r>
            <a:r>
              <a:rPr lang="es-ES_tradnl" dirty="0">
                <a:highlight>
                  <a:srgbClr val="FFFF00"/>
                </a:highlight>
                <a:latin typeface="Calibri" panose="020F0502020204030204" pitchFamily="34" charset="0"/>
                <a:ea typeface="Calibri" panose="020F0502020204030204" pitchFamily="34" charset="0"/>
                <a:cs typeface="Courier New" panose="02070309020205020404" pitchFamily="49" charset="0"/>
              </a:rPr>
              <a:t>PLOT(X1,Y1,S1,X2,Y2,S2,X3,Y3,S3,...)</a:t>
            </a:r>
            <a:r>
              <a:rPr lang="es-ES_tradnl" dirty="0">
                <a:latin typeface="Calibri" panose="020F0502020204030204" pitchFamily="34" charset="0"/>
                <a:ea typeface="Calibri" panose="020F0502020204030204" pitchFamily="34" charset="0"/>
                <a:cs typeface="Courier New" panose="02070309020205020404" pitchFamily="49" charset="0"/>
              </a:rPr>
              <a:t> combina los gráficos definidos por los triples </a:t>
            </a:r>
            <a:r>
              <a:rPr lang="es-ES_tradnl" i="1" dirty="0">
                <a:latin typeface="Calibri" panose="020F0502020204030204" pitchFamily="34" charset="0"/>
                <a:ea typeface="Calibri" panose="020F0502020204030204" pitchFamily="34" charset="0"/>
                <a:cs typeface="Courier New" panose="02070309020205020404" pitchFamily="49" charset="0"/>
              </a:rPr>
              <a:t>(X,Y,S)</a:t>
            </a:r>
            <a:r>
              <a:rPr lang="es-ES_tradnl" dirty="0">
                <a:latin typeface="Calibri" panose="020F0502020204030204" pitchFamily="34" charset="0"/>
                <a:ea typeface="Calibri" panose="020F0502020204030204" pitchFamily="34" charset="0"/>
                <a:cs typeface="Courier New" panose="02070309020205020404" pitchFamily="49" charset="0"/>
              </a:rPr>
              <a:t>, donde los  </a:t>
            </a:r>
            <a:r>
              <a:rPr lang="es-ES_tradnl" dirty="0" err="1">
                <a:latin typeface="Calibri" panose="020F0502020204030204" pitchFamily="34" charset="0"/>
                <a:ea typeface="Calibri" panose="020F0502020204030204" pitchFamily="34" charset="0"/>
                <a:cs typeface="Courier New" panose="02070309020205020404" pitchFamily="49" charset="0"/>
              </a:rPr>
              <a:t>X's</a:t>
            </a:r>
            <a:r>
              <a:rPr lang="es-ES_tradnl" dirty="0">
                <a:latin typeface="Calibri" panose="020F0502020204030204" pitchFamily="34" charset="0"/>
                <a:ea typeface="Calibri" panose="020F0502020204030204" pitchFamily="34" charset="0"/>
                <a:cs typeface="Courier New" panose="02070309020205020404" pitchFamily="49" charset="0"/>
              </a:rPr>
              <a:t> e </a:t>
            </a:r>
            <a:r>
              <a:rPr lang="es-ES_tradnl" dirty="0" err="1">
                <a:latin typeface="Calibri" panose="020F0502020204030204" pitchFamily="34" charset="0"/>
                <a:ea typeface="Calibri" panose="020F0502020204030204" pitchFamily="34" charset="0"/>
                <a:cs typeface="Courier New" panose="02070309020205020404" pitchFamily="49" charset="0"/>
              </a:rPr>
              <a:t>Y's</a:t>
            </a:r>
            <a:r>
              <a:rPr lang="es-ES_tradnl" dirty="0">
                <a:latin typeface="Calibri" panose="020F0502020204030204" pitchFamily="34" charset="0"/>
                <a:ea typeface="Calibri" panose="020F0502020204030204" pitchFamily="34" charset="0"/>
                <a:cs typeface="Courier New" panose="02070309020205020404" pitchFamily="49" charset="0"/>
              </a:rPr>
              <a:t> son vectores o matrices y los </a:t>
            </a:r>
            <a:r>
              <a:rPr lang="es-ES_tradnl" dirty="0" err="1">
                <a:latin typeface="Calibri" panose="020F0502020204030204" pitchFamily="34" charset="0"/>
                <a:ea typeface="Calibri" panose="020F0502020204030204" pitchFamily="34" charset="0"/>
                <a:cs typeface="Courier New" panose="02070309020205020404" pitchFamily="49" charset="0"/>
              </a:rPr>
              <a:t>S's</a:t>
            </a:r>
            <a:r>
              <a:rPr lang="es-ES_tradnl" dirty="0">
                <a:latin typeface="Calibri" panose="020F0502020204030204" pitchFamily="34" charset="0"/>
                <a:ea typeface="Calibri" panose="020F0502020204030204" pitchFamily="34" charset="0"/>
                <a:cs typeface="Courier New" panose="02070309020205020404" pitchFamily="49" charset="0"/>
              </a:rPr>
              <a:t> son </a:t>
            </a:r>
            <a:r>
              <a:rPr lang="es-ES_tradnl" dirty="0" err="1">
                <a:latin typeface="Calibri" panose="020F0502020204030204" pitchFamily="34" charset="0"/>
                <a:ea typeface="Calibri" panose="020F0502020204030204" pitchFamily="34" charset="0"/>
                <a:cs typeface="Courier New" panose="02070309020205020404" pitchFamily="49" charset="0"/>
              </a:rPr>
              <a:t>strings</a:t>
            </a:r>
            <a:endParaRPr lang="es-AR" dirty="0"/>
          </a:p>
        </p:txBody>
      </p:sp>
      <p:sp>
        <p:nvSpPr>
          <p:cNvPr id="7" name="Rectángulo 6"/>
          <p:cNvSpPr/>
          <p:nvPr/>
        </p:nvSpPr>
        <p:spPr>
          <a:xfrm>
            <a:off x="4525818" y="723781"/>
            <a:ext cx="6096000" cy="800219"/>
          </a:xfrm>
          <a:prstGeom prst="rect">
            <a:avLst/>
          </a:prstGeom>
        </p:spPr>
        <p:txBody>
          <a:bodyPr>
            <a:spAutoFit/>
          </a:bodyPr>
          <a:lstStyle/>
          <a:p>
            <a:pPr>
              <a:lnSpc>
                <a:spcPct val="115000"/>
              </a:lnSpc>
              <a:spcAft>
                <a:spcPts val="0"/>
              </a:spcAft>
            </a:pPr>
            <a:r>
              <a:rPr lang="es-ES_tradnl" sz="2000" dirty="0">
                <a:ea typeface="Calibri" panose="020F0502020204030204" pitchFamily="34" charset="0"/>
                <a:cs typeface="Times New Roman" panose="02020603050405020304" pitchFamily="18" charset="0"/>
              </a:rPr>
              <a:t>X=[1 2 3 4]; Y1=[1 2 4 6];Y2=[2 3 8 6];</a:t>
            </a:r>
            <a:endParaRPr lang="es-AR" sz="2000" dirty="0">
              <a:ea typeface="Calibri" panose="020F0502020204030204" pitchFamily="34" charset="0"/>
              <a:cs typeface="Times New Roman" panose="02020603050405020304" pitchFamily="18" charset="0"/>
            </a:endParaRPr>
          </a:p>
          <a:p>
            <a:pPr>
              <a:lnSpc>
                <a:spcPct val="115000"/>
              </a:lnSpc>
              <a:spcAft>
                <a:spcPts val="0"/>
              </a:spcAft>
            </a:pPr>
            <a:r>
              <a:rPr lang="es-ES_tradnl" sz="2000" dirty="0" err="1">
                <a:ea typeface="Calibri" panose="020F0502020204030204" pitchFamily="34" charset="0"/>
                <a:cs typeface="Times New Roman" panose="02020603050405020304" pitchFamily="18" charset="0"/>
              </a:rPr>
              <a:t>plot</a:t>
            </a:r>
            <a:r>
              <a:rPr lang="es-ES_tradnl" sz="2000" dirty="0">
                <a:ea typeface="Calibri" panose="020F0502020204030204" pitchFamily="34" charset="0"/>
                <a:cs typeface="Times New Roman" panose="02020603050405020304" pitchFamily="18" charset="0"/>
              </a:rPr>
              <a:t>(X,Y1,'r-',X,Y2,'k:o')</a:t>
            </a:r>
            <a:endParaRPr lang="es-AR" sz="2000" dirty="0">
              <a:ea typeface="Calibri" panose="020F0502020204030204" pitchFamily="34" charset="0"/>
              <a:cs typeface="Times New Roman" panose="02020603050405020304" pitchFamily="18" charset="0"/>
            </a:endParaRPr>
          </a:p>
        </p:txBody>
      </p:sp>
      <p:pic>
        <p:nvPicPr>
          <p:cNvPr id="8" name="Imagen 7"/>
          <p:cNvPicPr>
            <a:picLocks noChangeAspect="1"/>
          </p:cNvPicPr>
          <p:nvPr/>
        </p:nvPicPr>
        <p:blipFill rotWithShape="1">
          <a:blip r:embed="rId3">
            <a:extLst>
              <a:ext uri="{28A0092B-C50C-407E-A947-70E740481C1C}">
                <a14:useLocalDpi xmlns:a14="http://schemas.microsoft.com/office/drawing/2010/main" val="0"/>
              </a:ext>
            </a:extLst>
          </a:blip>
          <a:srcRect l="10169" t="5604" r="8263" b="6420"/>
          <a:stretch/>
        </p:blipFill>
        <p:spPr>
          <a:xfrm>
            <a:off x="7573818" y="1088796"/>
            <a:ext cx="4350328" cy="3519055"/>
          </a:xfrm>
          <a:prstGeom prst="rect">
            <a:avLst/>
          </a:prstGeom>
        </p:spPr>
      </p:pic>
      <p:sp>
        <p:nvSpPr>
          <p:cNvPr id="9" name="Rectángulo 8"/>
          <p:cNvSpPr/>
          <p:nvPr/>
        </p:nvSpPr>
        <p:spPr>
          <a:xfrm>
            <a:off x="544946" y="5198337"/>
            <a:ext cx="11286836" cy="1366528"/>
          </a:xfrm>
          <a:prstGeom prst="rect">
            <a:avLst/>
          </a:prstGeom>
        </p:spPr>
        <p:txBody>
          <a:bodyPr wrap="square">
            <a:spAutoFit/>
          </a:bodyPr>
          <a:lstStyle/>
          <a:p>
            <a:pPr>
              <a:lnSpc>
                <a:spcPct val="115000"/>
              </a:lnSpc>
              <a:spcAft>
                <a:spcPts val="0"/>
              </a:spcAft>
            </a:pPr>
            <a:r>
              <a:rPr lang="es-ES_tradnl" dirty="0">
                <a:latin typeface="Calibri" panose="020F0502020204030204" pitchFamily="34" charset="0"/>
                <a:ea typeface="Calibri" panose="020F0502020204030204" pitchFamily="34" charset="0"/>
                <a:cs typeface="Courier New" panose="02070309020205020404" pitchFamily="49" charset="0"/>
              </a:rPr>
              <a:t>El comando PLOT, si no se especifica color, hace uso automático de colores especificados. Los default están listados en la tabla de arriba.</a:t>
            </a:r>
            <a:endParaRPr lang="es-AR"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s-ES_tradnl" dirty="0">
                <a:latin typeface="Calibri" panose="020F0502020204030204" pitchFamily="34" charset="0"/>
                <a:ea typeface="Calibri" panose="020F0502020204030204" pitchFamily="34" charset="0"/>
                <a:cs typeface="Courier New" panose="02070309020205020404" pitchFamily="49" charset="0"/>
              </a:rPr>
              <a:t>Si no se especifica tipo de marcador (</a:t>
            </a:r>
            <a:r>
              <a:rPr lang="es-ES_tradnl" dirty="0" err="1">
                <a:latin typeface="Calibri" panose="020F0502020204030204" pitchFamily="34" charset="0"/>
                <a:ea typeface="Calibri" panose="020F0502020204030204" pitchFamily="34" charset="0"/>
                <a:cs typeface="Courier New" panose="02070309020205020404" pitchFamily="49" charset="0"/>
              </a:rPr>
              <a:t>marker</a:t>
            </a:r>
            <a:r>
              <a:rPr lang="es-ES_tradnl" dirty="0">
                <a:latin typeface="Calibri" panose="020F0502020204030204" pitchFamily="34" charset="0"/>
                <a:ea typeface="Calibri" panose="020F0502020204030204" pitchFamily="34" charset="0"/>
                <a:cs typeface="Courier New" panose="02070309020205020404" pitchFamily="49" charset="0"/>
              </a:rPr>
              <a:t> </a:t>
            </a:r>
            <a:r>
              <a:rPr lang="es-ES_tradnl" dirty="0" err="1">
                <a:latin typeface="Calibri" panose="020F0502020204030204" pitchFamily="34" charset="0"/>
                <a:ea typeface="Calibri" panose="020F0502020204030204" pitchFamily="34" charset="0"/>
                <a:cs typeface="Courier New" panose="02070309020205020404" pitchFamily="49" charset="0"/>
              </a:rPr>
              <a:t>type</a:t>
            </a:r>
            <a:r>
              <a:rPr lang="es-ES_tradnl" dirty="0">
                <a:latin typeface="Calibri" panose="020F0502020204030204" pitchFamily="34" charset="0"/>
                <a:ea typeface="Calibri" panose="020F0502020204030204" pitchFamily="34" charset="0"/>
                <a:cs typeface="Courier New" panose="02070309020205020404" pitchFamily="49" charset="0"/>
              </a:rPr>
              <a:t>), PLOT no usa marcador. Si no se especifica un estilo de línea (line </a:t>
            </a:r>
            <a:r>
              <a:rPr lang="es-ES_tradnl" dirty="0" err="1">
                <a:latin typeface="Calibri" panose="020F0502020204030204" pitchFamily="34" charset="0"/>
                <a:ea typeface="Calibri" panose="020F0502020204030204" pitchFamily="34" charset="0"/>
                <a:cs typeface="Courier New" panose="02070309020205020404" pitchFamily="49" charset="0"/>
              </a:rPr>
              <a:t>style</a:t>
            </a:r>
            <a:r>
              <a:rPr lang="es-ES_tradnl" dirty="0">
                <a:latin typeface="Calibri" panose="020F0502020204030204" pitchFamily="34" charset="0"/>
                <a:ea typeface="Calibri" panose="020F0502020204030204" pitchFamily="34" charset="0"/>
                <a:cs typeface="Courier New" panose="02070309020205020404" pitchFamily="49" charset="0"/>
              </a:rPr>
              <a:t>), PLOT usa una línea sólida.</a:t>
            </a:r>
            <a:endParaRPr lang="es-AR"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483592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295564" y="90850"/>
            <a:ext cx="3860800" cy="2475037"/>
          </a:xfrm>
          <a:prstGeom prst="rect">
            <a:avLst/>
          </a:prstGeom>
        </p:spPr>
        <p:txBody>
          <a:bodyPr wrap="square">
            <a:spAutoFit/>
          </a:bodyPr>
          <a:lstStyle/>
          <a:p>
            <a:pPr>
              <a:lnSpc>
                <a:spcPct val="115000"/>
              </a:lnSpc>
              <a:spcAft>
                <a:spcPts val="1000"/>
              </a:spcAft>
            </a:pPr>
            <a:r>
              <a:rPr lang="es-ES_tradnl" dirty="0">
                <a:ea typeface="Calibri" panose="020F0502020204030204" pitchFamily="34" charset="0"/>
                <a:cs typeface="Times New Roman" panose="02020603050405020304" pitchFamily="18" charset="0"/>
              </a:rPr>
              <a:t>x = -</a:t>
            </a:r>
            <a:r>
              <a:rPr lang="es-ES_tradnl" dirty="0" err="1">
                <a:ea typeface="Calibri" panose="020F0502020204030204" pitchFamily="34" charset="0"/>
                <a:cs typeface="Times New Roman" panose="02020603050405020304" pitchFamily="18" charset="0"/>
              </a:rPr>
              <a:t>pi:pi</a:t>
            </a:r>
            <a:r>
              <a:rPr lang="es-ES_tradnl" dirty="0">
                <a:ea typeface="Calibri" panose="020F0502020204030204" pitchFamily="34" charset="0"/>
                <a:cs typeface="Times New Roman" panose="02020603050405020304" pitchFamily="18" charset="0"/>
              </a:rPr>
              <a:t>/10:pi;</a:t>
            </a:r>
            <a:endParaRPr lang="es-AR" dirty="0">
              <a:ea typeface="Calibri" panose="020F0502020204030204" pitchFamily="34" charset="0"/>
              <a:cs typeface="Times New Roman" panose="02020603050405020304" pitchFamily="18" charset="0"/>
            </a:endParaRPr>
          </a:p>
          <a:p>
            <a:pPr>
              <a:lnSpc>
                <a:spcPct val="115000"/>
              </a:lnSpc>
              <a:spcAft>
                <a:spcPts val="1000"/>
              </a:spcAft>
            </a:pPr>
            <a:r>
              <a:rPr lang="es-ES_tradnl" dirty="0">
                <a:ea typeface="Calibri" panose="020F0502020204030204" pitchFamily="34" charset="0"/>
                <a:cs typeface="Times New Roman" panose="02020603050405020304" pitchFamily="18" charset="0"/>
              </a:rPr>
              <a:t>       y = tan(sin(x)) - sin(tan(x));</a:t>
            </a:r>
            <a:endParaRPr lang="es-AR" dirty="0">
              <a:ea typeface="Calibri" panose="020F0502020204030204" pitchFamily="34" charset="0"/>
              <a:cs typeface="Times New Roman" panose="02020603050405020304" pitchFamily="18" charset="0"/>
            </a:endParaRPr>
          </a:p>
          <a:p>
            <a:pPr>
              <a:lnSpc>
                <a:spcPct val="115000"/>
              </a:lnSpc>
              <a:spcAft>
                <a:spcPts val="1000"/>
              </a:spcAft>
            </a:pPr>
            <a:r>
              <a:rPr lang="es-ES_tradnl" dirty="0">
                <a:ea typeface="Calibri" panose="020F0502020204030204" pitchFamily="34" charset="0"/>
                <a:cs typeface="Times New Roman" panose="02020603050405020304" pitchFamily="18" charset="0"/>
              </a:rPr>
              <a:t>       </a:t>
            </a:r>
            <a:r>
              <a:rPr lang="en-US" dirty="0">
                <a:ea typeface="Calibri" panose="020F0502020204030204" pitchFamily="34" charset="0"/>
                <a:cs typeface="Times New Roman" panose="02020603050405020304" pitchFamily="18" charset="0"/>
              </a:rPr>
              <a:t>plot(</a:t>
            </a:r>
            <a:r>
              <a:rPr lang="en-US" dirty="0" err="1">
                <a:ea typeface="Calibri" panose="020F0502020204030204" pitchFamily="34" charset="0"/>
                <a:cs typeface="Times New Roman" panose="02020603050405020304" pitchFamily="18" charset="0"/>
              </a:rPr>
              <a:t>x,y</a:t>
            </a:r>
            <a:r>
              <a:rPr lang="en-US" dirty="0">
                <a:ea typeface="Calibri" panose="020F0502020204030204" pitchFamily="34" charset="0"/>
                <a:cs typeface="Times New Roman" panose="02020603050405020304" pitchFamily="18" charset="0"/>
              </a:rPr>
              <a:t>,'--rs','LineWidth',2,...                       '</a:t>
            </a:r>
            <a:r>
              <a:rPr lang="en-US" dirty="0" err="1">
                <a:ea typeface="Calibri" panose="020F0502020204030204" pitchFamily="34" charset="0"/>
                <a:cs typeface="Times New Roman" panose="02020603050405020304" pitchFamily="18" charset="0"/>
              </a:rPr>
              <a:t>MarkerEdgeColor</a:t>
            </a:r>
            <a:r>
              <a:rPr lang="en-US" dirty="0">
                <a:ea typeface="Calibri" panose="020F0502020204030204" pitchFamily="34" charset="0"/>
                <a:cs typeface="Times New Roman" panose="02020603050405020304" pitchFamily="18" charset="0"/>
              </a:rPr>
              <a:t>','k',...                       </a:t>
            </a:r>
          </a:p>
          <a:p>
            <a:pPr>
              <a:lnSpc>
                <a:spcPct val="115000"/>
              </a:lnSpc>
              <a:spcAft>
                <a:spcPts val="1000"/>
              </a:spcAft>
            </a:pPr>
            <a:r>
              <a:rPr lang="en-US" dirty="0">
                <a:ea typeface="Calibri" panose="020F0502020204030204" pitchFamily="34" charset="0"/>
                <a:cs typeface="Times New Roman" panose="02020603050405020304" pitchFamily="18" charset="0"/>
              </a:rPr>
              <a:t>'</a:t>
            </a:r>
            <a:r>
              <a:rPr lang="en-US" dirty="0" err="1">
                <a:ea typeface="Calibri" panose="020F0502020204030204" pitchFamily="34" charset="0"/>
                <a:cs typeface="Times New Roman" panose="02020603050405020304" pitchFamily="18" charset="0"/>
              </a:rPr>
              <a:t>MarkerFaceColor</a:t>
            </a:r>
            <a:r>
              <a:rPr lang="en-US" dirty="0">
                <a:ea typeface="Calibri" panose="020F0502020204030204" pitchFamily="34" charset="0"/>
                <a:cs typeface="Times New Roman" panose="02020603050405020304" pitchFamily="18" charset="0"/>
              </a:rPr>
              <a:t>','g',...</a:t>
            </a:r>
            <a:endParaRPr lang="es-AR" dirty="0">
              <a:ea typeface="Calibri" panose="020F0502020204030204" pitchFamily="34" charset="0"/>
              <a:cs typeface="Times New Roman" panose="02020603050405020304" pitchFamily="18" charset="0"/>
            </a:endParaRPr>
          </a:p>
          <a:p>
            <a:r>
              <a:rPr lang="en-US" dirty="0">
                <a:ea typeface="Calibri" panose="020F0502020204030204" pitchFamily="34" charset="0"/>
              </a:rPr>
              <a:t>                       'MarkerSize',10)</a:t>
            </a:r>
            <a:endParaRPr lang="es-AR" dirty="0"/>
          </a:p>
        </p:txBody>
      </p:sp>
      <p:sp>
        <p:nvSpPr>
          <p:cNvPr id="5" name="Rectángulo 4"/>
          <p:cNvSpPr/>
          <p:nvPr/>
        </p:nvSpPr>
        <p:spPr>
          <a:xfrm>
            <a:off x="6096000" y="216576"/>
            <a:ext cx="6096000" cy="1892826"/>
          </a:xfrm>
          <a:prstGeom prst="rect">
            <a:avLst/>
          </a:prstGeom>
        </p:spPr>
        <p:txBody>
          <a:bodyPr>
            <a:spAutoFit/>
          </a:bodyPr>
          <a:lstStyle/>
          <a:p>
            <a:pPr>
              <a:lnSpc>
                <a:spcPct val="115000"/>
              </a:lnSpc>
              <a:spcAft>
                <a:spcPts val="1000"/>
              </a:spcAft>
            </a:pPr>
            <a:r>
              <a:rPr lang="es-ES_tradnl" sz="2000" dirty="0">
                <a:ea typeface="Calibri" panose="020F0502020204030204" pitchFamily="34" charset="0"/>
                <a:cs typeface="Times New Roman" panose="02020603050405020304" pitchFamily="18" charset="0"/>
              </a:rPr>
              <a:t>x = 0:0.01:20;</a:t>
            </a:r>
            <a:endParaRPr lang="es-AR" sz="2000" dirty="0">
              <a:ea typeface="Calibri" panose="020F0502020204030204" pitchFamily="34" charset="0"/>
              <a:cs typeface="Times New Roman" panose="02020603050405020304" pitchFamily="18" charset="0"/>
            </a:endParaRPr>
          </a:p>
          <a:p>
            <a:pPr>
              <a:lnSpc>
                <a:spcPct val="115000"/>
              </a:lnSpc>
              <a:spcAft>
                <a:spcPts val="1000"/>
              </a:spcAft>
            </a:pPr>
            <a:r>
              <a:rPr lang="es-ES_tradnl" sz="2000" dirty="0">
                <a:ea typeface="Calibri" panose="020F0502020204030204" pitchFamily="34" charset="0"/>
                <a:cs typeface="Times New Roman" panose="02020603050405020304" pitchFamily="18" charset="0"/>
              </a:rPr>
              <a:t>y1 = 200*</a:t>
            </a:r>
            <a:r>
              <a:rPr lang="es-ES_tradnl" sz="2000" dirty="0" err="1">
                <a:ea typeface="Calibri" panose="020F0502020204030204" pitchFamily="34" charset="0"/>
                <a:cs typeface="Times New Roman" panose="02020603050405020304" pitchFamily="18" charset="0"/>
              </a:rPr>
              <a:t>exp</a:t>
            </a:r>
            <a:r>
              <a:rPr lang="es-ES_tradnl" sz="2000" dirty="0">
                <a:ea typeface="Calibri" panose="020F0502020204030204" pitchFamily="34" charset="0"/>
                <a:cs typeface="Times New Roman" panose="02020603050405020304" pitchFamily="18" charset="0"/>
              </a:rPr>
              <a:t>(-0.05*x).*sin(x);</a:t>
            </a:r>
            <a:endParaRPr lang="es-AR" sz="2000" dirty="0">
              <a:ea typeface="Calibri" panose="020F0502020204030204" pitchFamily="34" charset="0"/>
              <a:cs typeface="Times New Roman" panose="02020603050405020304" pitchFamily="18" charset="0"/>
            </a:endParaRPr>
          </a:p>
          <a:p>
            <a:pPr>
              <a:lnSpc>
                <a:spcPct val="115000"/>
              </a:lnSpc>
              <a:spcAft>
                <a:spcPts val="1000"/>
              </a:spcAft>
            </a:pPr>
            <a:r>
              <a:rPr lang="es-ES_tradnl" sz="2000" dirty="0">
                <a:ea typeface="Calibri" panose="020F0502020204030204" pitchFamily="34" charset="0"/>
                <a:cs typeface="Times New Roman" panose="02020603050405020304" pitchFamily="18" charset="0"/>
              </a:rPr>
              <a:t>y2 = 0.8*</a:t>
            </a:r>
            <a:r>
              <a:rPr lang="es-ES_tradnl" sz="2000" dirty="0" err="1">
                <a:ea typeface="Calibri" panose="020F0502020204030204" pitchFamily="34" charset="0"/>
                <a:cs typeface="Times New Roman" panose="02020603050405020304" pitchFamily="18" charset="0"/>
              </a:rPr>
              <a:t>exp</a:t>
            </a:r>
            <a:r>
              <a:rPr lang="es-ES_tradnl" sz="2000" dirty="0">
                <a:ea typeface="Calibri" panose="020F0502020204030204" pitchFamily="34" charset="0"/>
                <a:cs typeface="Times New Roman" panose="02020603050405020304" pitchFamily="18" charset="0"/>
              </a:rPr>
              <a:t>(-0.5*x).*sin(10*x);</a:t>
            </a:r>
            <a:endParaRPr lang="es-AR" sz="2000" dirty="0">
              <a:ea typeface="Calibri" panose="020F0502020204030204" pitchFamily="34" charset="0"/>
              <a:cs typeface="Times New Roman" panose="02020603050405020304" pitchFamily="18" charset="0"/>
            </a:endParaRPr>
          </a:p>
          <a:p>
            <a:pPr>
              <a:lnSpc>
                <a:spcPct val="115000"/>
              </a:lnSpc>
              <a:spcAft>
                <a:spcPts val="1000"/>
              </a:spcAft>
            </a:pPr>
            <a:r>
              <a:rPr lang="es-ES_tradnl" sz="2000" dirty="0">
                <a:ea typeface="Calibri" panose="020F0502020204030204" pitchFamily="34" charset="0"/>
                <a:cs typeface="Times New Roman" panose="02020603050405020304" pitchFamily="18" charset="0"/>
              </a:rPr>
              <a:t>[AX,H1,H2] = </a:t>
            </a:r>
            <a:r>
              <a:rPr lang="es-ES_tradnl" sz="2000" dirty="0" err="1">
                <a:ea typeface="Calibri" panose="020F0502020204030204" pitchFamily="34" charset="0"/>
                <a:cs typeface="Times New Roman" panose="02020603050405020304" pitchFamily="18" charset="0"/>
              </a:rPr>
              <a:t>plotyy</a:t>
            </a:r>
            <a:r>
              <a:rPr lang="es-ES_tradnl" sz="2000" dirty="0">
                <a:ea typeface="Calibri" panose="020F0502020204030204" pitchFamily="34" charset="0"/>
                <a:cs typeface="Times New Roman" panose="02020603050405020304" pitchFamily="18" charset="0"/>
              </a:rPr>
              <a:t>(x,y1,x,y2,'plot');</a:t>
            </a:r>
            <a:endParaRPr lang="es-AR" sz="2000" dirty="0">
              <a:ea typeface="Calibri" panose="020F0502020204030204" pitchFamily="34" charset="0"/>
              <a:cs typeface="Times New Roman" panose="02020603050405020304" pitchFamily="18" charset="0"/>
            </a:endParaRPr>
          </a:p>
        </p:txBody>
      </p:sp>
      <p:pic>
        <p:nvPicPr>
          <p:cNvPr id="6" name="Imagen 5"/>
          <p:cNvPicPr>
            <a:picLocks noChangeAspect="1"/>
          </p:cNvPicPr>
          <p:nvPr/>
        </p:nvPicPr>
        <p:blipFill rotWithShape="1">
          <a:blip r:embed="rId2">
            <a:extLst>
              <a:ext uri="{28A0092B-C50C-407E-A947-70E740481C1C}">
                <a14:useLocalDpi xmlns:a14="http://schemas.microsoft.com/office/drawing/2010/main" val="0"/>
              </a:ext>
            </a:extLst>
          </a:blip>
          <a:srcRect l="9699" t="6049" r="8386" b="6205"/>
          <a:stretch/>
        </p:blipFill>
        <p:spPr>
          <a:xfrm>
            <a:off x="147782" y="2565887"/>
            <a:ext cx="4368801" cy="3509818"/>
          </a:xfrm>
          <a:prstGeom prst="rect">
            <a:avLst/>
          </a:prstGeom>
        </p:spPr>
      </p:pic>
      <p:pic>
        <p:nvPicPr>
          <p:cNvPr id="7" name="Imagen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27587" y="2214796"/>
            <a:ext cx="5616000" cy="4212000"/>
          </a:xfrm>
          <a:prstGeom prst="rect">
            <a:avLst/>
          </a:prstGeom>
        </p:spPr>
      </p:pic>
    </p:spTree>
    <p:extLst>
      <p:ext uri="{BB962C8B-B14F-4D97-AF65-F5344CB8AC3E}">
        <p14:creationId xmlns:p14="http://schemas.microsoft.com/office/powerpoint/2010/main" val="42699616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6096000" cy="1892826"/>
          </a:xfrm>
          <a:prstGeom prst="rect">
            <a:avLst/>
          </a:prstGeom>
        </p:spPr>
        <p:txBody>
          <a:bodyPr>
            <a:spAutoFit/>
          </a:bodyPr>
          <a:lstStyle/>
          <a:p>
            <a:pPr>
              <a:lnSpc>
                <a:spcPct val="115000"/>
              </a:lnSpc>
              <a:spcAft>
                <a:spcPts val="1000"/>
              </a:spcAft>
            </a:pPr>
            <a:r>
              <a:rPr lang="en-US" sz="2000" dirty="0" err="1">
                <a:highlight>
                  <a:srgbClr val="FFFF00"/>
                </a:highlight>
                <a:ea typeface="Calibri" panose="020F0502020204030204" pitchFamily="34" charset="0"/>
                <a:cs typeface="Courier New" panose="02070309020205020404" pitchFamily="49" charset="0"/>
              </a:rPr>
              <a:t>Loglog</a:t>
            </a:r>
            <a:r>
              <a:rPr lang="en-US" sz="2000" dirty="0">
                <a:ea typeface="Calibri" panose="020F0502020204030204" pitchFamily="34" charset="0"/>
                <a:cs typeface="Courier New" panose="02070309020205020404" pitchFamily="49" charset="0"/>
              </a:rPr>
              <a:t>:</a:t>
            </a:r>
            <a:endParaRPr lang="es-AR" sz="2000" dirty="0">
              <a:ea typeface="Calibri" panose="020F0502020204030204" pitchFamily="34" charset="0"/>
              <a:cs typeface="Times New Roman" panose="02020603050405020304" pitchFamily="18" charset="0"/>
            </a:endParaRPr>
          </a:p>
          <a:p>
            <a:pPr>
              <a:lnSpc>
                <a:spcPct val="115000"/>
              </a:lnSpc>
              <a:spcAft>
                <a:spcPts val="1000"/>
              </a:spcAft>
            </a:pPr>
            <a:r>
              <a:rPr lang="en-US" sz="2000" dirty="0">
                <a:ea typeface="Calibri" panose="020F0502020204030204" pitchFamily="34" charset="0"/>
                <a:cs typeface="Times New Roman" panose="02020603050405020304" pitchFamily="18" charset="0"/>
              </a:rPr>
              <a:t>x = </a:t>
            </a:r>
            <a:r>
              <a:rPr lang="en-US" sz="2000" dirty="0" err="1">
                <a:ea typeface="Calibri" panose="020F0502020204030204" pitchFamily="34" charset="0"/>
                <a:cs typeface="Times New Roman" panose="02020603050405020304" pitchFamily="18" charset="0"/>
              </a:rPr>
              <a:t>logspace</a:t>
            </a:r>
            <a:r>
              <a:rPr lang="en-US" sz="2000" dirty="0">
                <a:ea typeface="Calibri" panose="020F0502020204030204" pitchFamily="34" charset="0"/>
                <a:cs typeface="Times New Roman" panose="02020603050405020304" pitchFamily="18" charset="0"/>
              </a:rPr>
              <a:t>(-1,2);</a:t>
            </a:r>
            <a:endParaRPr lang="es-AR" sz="2000" dirty="0">
              <a:ea typeface="Calibri" panose="020F0502020204030204" pitchFamily="34" charset="0"/>
              <a:cs typeface="Times New Roman" panose="02020603050405020304" pitchFamily="18" charset="0"/>
            </a:endParaRPr>
          </a:p>
          <a:p>
            <a:pPr>
              <a:lnSpc>
                <a:spcPct val="115000"/>
              </a:lnSpc>
              <a:spcAft>
                <a:spcPts val="1000"/>
              </a:spcAft>
            </a:pPr>
            <a:r>
              <a:rPr lang="en-US" sz="2000" dirty="0" err="1">
                <a:ea typeface="Calibri" panose="020F0502020204030204" pitchFamily="34" charset="0"/>
                <a:cs typeface="Times New Roman" panose="02020603050405020304" pitchFamily="18" charset="0"/>
              </a:rPr>
              <a:t>loglog</a:t>
            </a:r>
            <a:r>
              <a:rPr lang="en-US" sz="2000" dirty="0">
                <a:ea typeface="Calibri" panose="020F0502020204030204" pitchFamily="34" charset="0"/>
                <a:cs typeface="Times New Roman" panose="02020603050405020304" pitchFamily="18" charset="0"/>
              </a:rPr>
              <a:t>(</a:t>
            </a:r>
            <a:r>
              <a:rPr lang="en-US" sz="2000" dirty="0" err="1">
                <a:ea typeface="Calibri" panose="020F0502020204030204" pitchFamily="34" charset="0"/>
                <a:cs typeface="Times New Roman" panose="02020603050405020304" pitchFamily="18" charset="0"/>
              </a:rPr>
              <a:t>x,exp</a:t>
            </a:r>
            <a:r>
              <a:rPr lang="en-US" sz="2000" dirty="0">
                <a:ea typeface="Calibri" panose="020F0502020204030204" pitchFamily="34" charset="0"/>
                <a:cs typeface="Times New Roman" panose="02020603050405020304" pitchFamily="18" charset="0"/>
              </a:rPr>
              <a:t>(x),'-s')</a:t>
            </a:r>
            <a:endParaRPr lang="es-AR" sz="2000" dirty="0">
              <a:ea typeface="Calibri" panose="020F0502020204030204" pitchFamily="34" charset="0"/>
              <a:cs typeface="Times New Roman" panose="02020603050405020304" pitchFamily="18" charset="0"/>
            </a:endParaRPr>
          </a:p>
          <a:p>
            <a:pPr>
              <a:lnSpc>
                <a:spcPct val="115000"/>
              </a:lnSpc>
              <a:spcAft>
                <a:spcPts val="1000"/>
              </a:spcAft>
            </a:pPr>
            <a:r>
              <a:rPr lang="en-US" sz="2000" dirty="0">
                <a:ea typeface="Calibri" panose="020F0502020204030204" pitchFamily="34" charset="0"/>
                <a:cs typeface="Times New Roman" panose="02020603050405020304" pitchFamily="18" charset="0"/>
              </a:rPr>
              <a:t>grid on</a:t>
            </a:r>
            <a:endParaRPr lang="es-AR" sz="2000" dirty="0">
              <a:ea typeface="Calibri" panose="020F0502020204030204" pitchFamily="34" charset="0"/>
              <a:cs typeface="Times New Roman" panose="02020603050405020304" pitchFamily="18" charset="0"/>
            </a:endParaRPr>
          </a:p>
        </p:txBody>
      </p:sp>
      <p:pic>
        <p:nvPicPr>
          <p:cNvPr id="2051" name="Imagen 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892826"/>
            <a:ext cx="3918980" cy="31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ángulo 4"/>
          <p:cNvSpPr/>
          <p:nvPr/>
        </p:nvSpPr>
        <p:spPr>
          <a:xfrm>
            <a:off x="4119416" y="386446"/>
            <a:ext cx="7860147" cy="6144759"/>
          </a:xfrm>
          <a:prstGeom prst="rect">
            <a:avLst/>
          </a:prstGeom>
        </p:spPr>
        <p:txBody>
          <a:bodyPr wrap="square">
            <a:spAutoFit/>
          </a:bodyPr>
          <a:lstStyle/>
          <a:p>
            <a:pPr>
              <a:lnSpc>
                <a:spcPct val="115000"/>
              </a:lnSpc>
              <a:spcAft>
                <a:spcPts val="0"/>
              </a:spcAft>
            </a:pPr>
            <a:r>
              <a:rPr lang="es-ES_tradnl" dirty="0">
                <a:latin typeface="Calibri" panose="020F0502020204030204" pitchFamily="34" charset="0"/>
                <a:ea typeface="Calibri" panose="020F0502020204030204" pitchFamily="34" charset="0"/>
                <a:cs typeface="TimesNewRomanPSMT"/>
              </a:rPr>
              <a:t>Existen además otras funciones orientadas a añadir títulos al gráfico, a cada uno de los ejes, a dibujar una cuadrícula auxiliar, a introducir texto, etc. Estas funciones son las siguientes:</a:t>
            </a:r>
            <a:endParaRPr lang="es-AR"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s-ES_tradnl" dirty="0">
                <a:latin typeface="Calibri" panose="020F0502020204030204" pitchFamily="34" charset="0"/>
                <a:ea typeface="Calibri" panose="020F0502020204030204" pitchFamily="34" charset="0"/>
                <a:cs typeface="TimesNewRomanPSMT"/>
              </a:rPr>
              <a:t> </a:t>
            </a:r>
            <a:endParaRPr lang="es-AR"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s-ES_tradnl" dirty="0" err="1">
                <a:highlight>
                  <a:srgbClr val="FFFF00"/>
                </a:highlight>
                <a:latin typeface="Calibri" panose="020F0502020204030204" pitchFamily="34" charset="0"/>
                <a:ea typeface="Calibri" panose="020F0502020204030204" pitchFamily="34" charset="0"/>
                <a:cs typeface="TimesNewRomanPSMT"/>
              </a:rPr>
              <a:t>title</a:t>
            </a:r>
            <a:r>
              <a:rPr lang="es-ES_tradnl" dirty="0">
                <a:highlight>
                  <a:srgbClr val="FFFF00"/>
                </a:highlight>
                <a:latin typeface="Calibri" panose="020F0502020204030204" pitchFamily="34" charset="0"/>
                <a:ea typeface="Calibri" panose="020F0502020204030204" pitchFamily="34" charset="0"/>
                <a:cs typeface="TimesNewRomanPSMT"/>
              </a:rPr>
              <a:t>('título')</a:t>
            </a:r>
            <a:r>
              <a:rPr lang="es-ES_tradnl" dirty="0">
                <a:latin typeface="Calibri" panose="020F0502020204030204" pitchFamily="34" charset="0"/>
                <a:ea typeface="Calibri" panose="020F0502020204030204" pitchFamily="34" charset="0"/>
                <a:cs typeface="TimesNewRomanPSMT"/>
              </a:rPr>
              <a:t> añade un título al dibujo</a:t>
            </a:r>
            <a:endParaRPr lang="es-AR"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s-ES_tradnl" dirty="0" err="1">
                <a:highlight>
                  <a:srgbClr val="FFFF00"/>
                </a:highlight>
                <a:latin typeface="Calibri" panose="020F0502020204030204" pitchFamily="34" charset="0"/>
                <a:ea typeface="Calibri" panose="020F0502020204030204" pitchFamily="34" charset="0"/>
                <a:cs typeface="TimesNewRomanPSMT"/>
              </a:rPr>
              <a:t>xlabel</a:t>
            </a:r>
            <a:r>
              <a:rPr lang="es-ES_tradnl" dirty="0">
                <a:highlight>
                  <a:srgbClr val="FFFF00"/>
                </a:highlight>
                <a:latin typeface="Calibri" panose="020F0502020204030204" pitchFamily="34" charset="0"/>
                <a:ea typeface="Calibri" panose="020F0502020204030204" pitchFamily="34" charset="0"/>
                <a:cs typeface="TimesNewRomanPSMT"/>
              </a:rPr>
              <a:t>('tal')</a:t>
            </a:r>
            <a:r>
              <a:rPr lang="es-ES_tradnl" dirty="0">
                <a:latin typeface="Calibri" panose="020F0502020204030204" pitchFamily="34" charset="0"/>
                <a:ea typeface="Calibri" panose="020F0502020204030204" pitchFamily="34" charset="0"/>
                <a:cs typeface="TimesNewRomanPSMT"/>
              </a:rPr>
              <a:t> añade una etiqueta al eje de abscisas. Con </a:t>
            </a:r>
            <a:r>
              <a:rPr lang="es-ES_tradnl" b="1" i="1" dirty="0" err="1">
                <a:latin typeface="Calibri" panose="020F0502020204030204" pitchFamily="34" charset="0"/>
                <a:ea typeface="Calibri" panose="020F0502020204030204" pitchFamily="34" charset="0"/>
                <a:cs typeface="Times New Roman" panose="02020603050405020304" pitchFamily="18" charset="0"/>
              </a:rPr>
              <a:t>xlabel</a:t>
            </a:r>
            <a:r>
              <a:rPr lang="es-ES_tradnl" b="1" i="1" dirty="0">
                <a:latin typeface="Calibri" panose="020F0502020204030204" pitchFamily="34" charset="0"/>
                <a:ea typeface="Calibri" panose="020F0502020204030204" pitchFamily="34" charset="0"/>
                <a:cs typeface="Times New Roman" panose="02020603050405020304" pitchFamily="18" charset="0"/>
              </a:rPr>
              <a:t> off </a:t>
            </a:r>
            <a:r>
              <a:rPr lang="es-ES_tradnl" dirty="0">
                <a:latin typeface="Calibri" panose="020F0502020204030204" pitchFamily="34" charset="0"/>
                <a:ea typeface="Calibri" panose="020F0502020204030204" pitchFamily="34" charset="0"/>
                <a:cs typeface="TimesNewRomanPSMT"/>
              </a:rPr>
              <a:t>desaparece</a:t>
            </a:r>
            <a:endParaRPr lang="es-AR"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s-ES_tradnl" dirty="0" err="1">
                <a:highlight>
                  <a:srgbClr val="FFFF00"/>
                </a:highlight>
                <a:latin typeface="Calibri" panose="020F0502020204030204" pitchFamily="34" charset="0"/>
                <a:ea typeface="Calibri" panose="020F0502020204030204" pitchFamily="34" charset="0"/>
                <a:cs typeface="TimesNewRomanPSMT"/>
              </a:rPr>
              <a:t>ylabel</a:t>
            </a:r>
            <a:r>
              <a:rPr lang="es-ES_tradnl" dirty="0">
                <a:highlight>
                  <a:srgbClr val="FFFF00"/>
                </a:highlight>
                <a:latin typeface="Calibri" panose="020F0502020204030204" pitchFamily="34" charset="0"/>
                <a:ea typeface="Calibri" panose="020F0502020204030204" pitchFamily="34" charset="0"/>
                <a:cs typeface="TimesNewRomanPSMT"/>
              </a:rPr>
              <a:t>('cual')</a:t>
            </a:r>
            <a:r>
              <a:rPr lang="es-ES_tradnl" dirty="0">
                <a:latin typeface="Calibri" panose="020F0502020204030204" pitchFamily="34" charset="0"/>
                <a:ea typeface="Calibri" panose="020F0502020204030204" pitchFamily="34" charset="0"/>
                <a:cs typeface="TimesNewRomanPSMT"/>
              </a:rPr>
              <a:t> añade una etiqueta al eje de ordenadas. Con </a:t>
            </a:r>
            <a:r>
              <a:rPr lang="es-ES_tradnl" b="1" i="1" dirty="0" err="1">
                <a:latin typeface="Calibri" panose="020F0502020204030204" pitchFamily="34" charset="0"/>
                <a:ea typeface="Calibri" panose="020F0502020204030204" pitchFamily="34" charset="0"/>
                <a:cs typeface="Times New Roman" panose="02020603050405020304" pitchFamily="18" charset="0"/>
              </a:rPr>
              <a:t>ylabel</a:t>
            </a:r>
            <a:r>
              <a:rPr lang="es-ES_tradnl" b="1" i="1" dirty="0">
                <a:latin typeface="Calibri" panose="020F0502020204030204" pitchFamily="34" charset="0"/>
                <a:ea typeface="Calibri" panose="020F0502020204030204" pitchFamily="34" charset="0"/>
                <a:cs typeface="Times New Roman" panose="02020603050405020304" pitchFamily="18" charset="0"/>
              </a:rPr>
              <a:t> off </a:t>
            </a:r>
            <a:r>
              <a:rPr lang="es-ES_tradnl" dirty="0">
                <a:latin typeface="Calibri" panose="020F0502020204030204" pitchFamily="34" charset="0"/>
                <a:ea typeface="Calibri" panose="020F0502020204030204" pitchFamily="34" charset="0"/>
                <a:cs typeface="TimesNewRomanPSMT"/>
              </a:rPr>
              <a:t>desaparece</a:t>
            </a:r>
            <a:endParaRPr lang="es-AR"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s-ES_tradnl" dirty="0" err="1">
                <a:highlight>
                  <a:srgbClr val="FFFF00"/>
                </a:highlight>
                <a:latin typeface="Calibri" panose="020F0502020204030204" pitchFamily="34" charset="0"/>
                <a:ea typeface="Calibri" panose="020F0502020204030204" pitchFamily="34" charset="0"/>
                <a:cs typeface="TimesNewRomanPSMT"/>
              </a:rPr>
              <a:t>text</a:t>
            </a:r>
            <a:r>
              <a:rPr lang="es-ES_tradnl" dirty="0">
                <a:highlight>
                  <a:srgbClr val="FFFF00"/>
                </a:highlight>
                <a:latin typeface="Calibri" panose="020F0502020204030204" pitchFamily="34" charset="0"/>
                <a:ea typeface="Calibri" panose="020F0502020204030204" pitchFamily="34" charset="0"/>
                <a:cs typeface="TimesNewRomanPSMT"/>
              </a:rPr>
              <a:t>(</a:t>
            </a:r>
            <a:r>
              <a:rPr lang="es-ES_tradnl" dirty="0" err="1">
                <a:highlight>
                  <a:srgbClr val="FFFF00"/>
                </a:highlight>
                <a:latin typeface="Calibri" panose="020F0502020204030204" pitchFamily="34" charset="0"/>
                <a:ea typeface="Calibri" panose="020F0502020204030204" pitchFamily="34" charset="0"/>
                <a:cs typeface="TimesNewRomanPSMT"/>
              </a:rPr>
              <a:t>x,y,'texto</a:t>
            </a:r>
            <a:r>
              <a:rPr lang="es-ES_tradnl" dirty="0">
                <a:highlight>
                  <a:srgbClr val="FFFF00"/>
                </a:highlight>
                <a:latin typeface="Calibri" panose="020F0502020204030204" pitchFamily="34" charset="0"/>
                <a:ea typeface="Calibri" panose="020F0502020204030204" pitchFamily="34" charset="0"/>
                <a:cs typeface="TimesNewRomanPSMT"/>
              </a:rPr>
              <a:t>')</a:t>
            </a:r>
            <a:r>
              <a:rPr lang="es-ES_tradnl" dirty="0">
                <a:latin typeface="Calibri" panose="020F0502020204030204" pitchFamily="34" charset="0"/>
                <a:ea typeface="Calibri" panose="020F0502020204030204" pitchFamily="34" charset="0"/>
                <a:cs typeface="TimesNewRomanPSMT"/>
              </a:rPr>
              <a:t> introduce 'texto' en el lugar especificado por las coordenadas </a:t>
            </a:r>
            <a:r>
              <a:rPr lang="es-ES_tradnl" b="1" dirty="0">
                <a:latin typeface="Calibri" panose="020F0502020204030204" pitchFamily="34" charset="0"/>
                <a:ea typeface="Calibri" panose="020F0502020204030204" pitchFamily="34" charset="0"/>
                <a:cs typeface="Times New Roman" panose="02020603050405020304" pitchFamily="18" charset="0"/>
              </a:rPr>
              <a:t>x </a:t>
            </a:r>
            <a:r>
              <a:rPr lang="es-ES_tradnl" dirty="0">
                <a:latin typeface="Calibri" panose="020F0502020204030204" pitchFamily="34" charset="0"/>
                <a:ea typeface="Calibri" panose="020F0502020204030204" pitchFamily="34" charset="0"/>
                <a:cs typeface="TimesNewRomanPSMT"/>
              </a:rPr>
              <a:t>e </a:t>
            </a:r>
            <a:r>
              <a:rPr lang="es-ES_tradnl" b="1" dirty="0">
                <a:latin typeface="Calibri" panose="020F0502020204030204" pitchFamily="34" charset="0"/>
                <a:ea typeface="Calibri" panose="020F0502020204030204" pitchFamily="34" charset="0"/>
                <a:cs typeface="Times New Roman" panose="02020603050405020304" pitchFamily="18" charset="0"/>
              </a:rPr>
              <a:t>y</a:t>
            </a:r>
            <a:r>
              <a:rPr lang="es-ES_tradnl" dirty="0">
                <a:latin typeface="Calibri" panose="020F0502020204030204" pitchFamily="34" charset="0"/>
                <a:ea typeface="Calibri" panose="020F0502020204030204" pitchFamily="34" charset="0"/>
                <a:cs typeface="TimesNewRomanPSMT"/>
              </a:rPr>
              <a:t>. Si </a:t>
            </a:r>
            <a:r>
              <a:rPr lang="es-ES_tradnl" b="1" dirty="0">
                <a:latin typeface="Calibri" panose="020F0502020204030204" pitchFamily="34" charset="0"/>
                <a:ea typeface="Calibri" panose="020F0502020204030204" pitchFamily="34" charset="0"/>
                <a:cs typeface="Times New Roman" panose="02020603050405020304" pitchFamily="18" charset="0"/>
              </a:rPr>
              <a:t>x </a:t>
            </a:r>
            <a:r>
              <a:rPr lang="es-ES_tradnl" dirty="0">
                <a:latin typeface="Calibri" panose="020F0502020204030204" pitchFamily="34" charset="0"/>
                <a:ea typeface="Calibri" panose="020F0502020204030204" pitchFamily="34" charset="0"/>
                <a:cs typeface="TimesNewRomanPSMT"/>
              </a:rPr>
              <a:t>e </a:t>
            </a:r>
            <a:r>
              <a:rPr lang="es-ES_tradnl" b="1" dirty="0">
                <a:latin typeface="Calibri" panose="020F0502020204030204" pitchFamily="34" charset="0"/>
                <a:ea typeface="Calibri" panose="020F0502020204030204" pitchFamily="34" charset="0"/>
                <a:cs typeface="Times New Roman" panose="02020603050405020304" pitchFamily="18" charset="0"/>
              </a:rPr>
              <a:t>y</a:t>
            </a:r>
            <a:endParaRPr lang="es-AR"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s-ES_tradnl" dirty="0">
                <a:latin typeface="Calibri" panose="020F0502020204030204" pitchFamily="34" charset="0"/>
                <a:ea typeface="Calibri" panose="020F0502020204030204" pitchFamily="34" charset="0"/>
                <a:cs typeface="TimesNewRomanPSMT"/>
              </a:rPr>
              <a:t>son vectores, el texto se repite por cada par de elementos. Si </a:t>
            </a:r>
            <a:r>
              <a:rPr lang="es-ES_tradnl" b="1" dirty="0">
                <a:latin typeface="Calibri" panose="020F0502020204030204" pitchFamily="34" charset="0"/>
                <a:ea typeface="Calibri" panose="020F0502020204030204" pitchFamily="34" charset="0"/>
                <a:cs typeface="Times New Roman" panose="02020603050405020304" pitchFamily="18" charset="0"/>
              </a:rPr>
              <a:t>texto </a:t>
            </a:r>
            <a:r>
              <a:rPr lang="es-ES_tradnl" dirty="0">
                <a:latin typeface="Calibri" panose="020F0502020204030204" pitchFamily="34" charset="0"/>
                <a:ea typeface="Calibri" panose="020F0502020204030204" pitchFamily="34" charset="0"/>
                <a:cs typeface="TimesNewRomanPSMT"/>
              </a:rPr>
              <a:t>es también un vector de cadenas de texto de la misma dimensión, cada elemento se escribe en las coordenadas correspondientes</a:t>
            </a:r>
            <a:endParaRPr lang="es-AR"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s-ES_tradnl" dirty="0" err="1">
                <a:highlight>
                  <a:srgbClr val="FFFF00"/>
                </a:highlight>
                <a:latin typeface="Calibri" panose="020F0502020204030204" pitchFamily="34" charset="0"/>
                <a:ea typeface="Calibri" panose="020F0502020204030204" pitchFamily="34" charset="0"/>
                <a:cs typeface="TimesNewRomanPSMT"/>
              </a:rPr>
              <a:t>gtext</a:t>
            </a:r>
            <a:r>
              <a:rPr lang="es-ES_tradnl" dirty="0">
                <a:highlight>
                  <a:srgbClr val="FFFF00"/>
                </a:highlight>
                <a:latin typeface="Calibri" panose="020F0502020204030204" pitchFamily="34" charset="0"/>
                <a:ea typeface="Calibri" panose="020F0502020204030204" pitchFamily="34" charset="0"/>
                <a:cs typeface="TimesNewRomanPSMT"/>
              </a:rPr>
              <a:t>('texto')</a:t>
            </a:r>
            <a:r>
              <a:rPr lang="es-ES_tradnl" dirty="0">
                <a:latin typeface="Calibri" panose="020F0502020204030204" pitchFamily="34" charset="0"/>
                <a:ea typeface="Calibri" panose="020F0502020204030204" pitchFamily="34" charset="0"/>
                <a:cs typeface="TimesNewRomanPSMT"/>
              </a:rPr>
              <a:t>  introduce </a:t>
            </a:r>
            <a:r>
              <a:rPr lang="es-ES_tradnl" b="1" dirty="0">
                <a:latin typeface="Calibri" panose="020F0502020204030204" pitchFamily="34" charset="0"/>
                <a:ea typeface="Calibri" panose="020F0502020204030204" pitchFamily="34" charset="0"/>
                <a:cs typeface="Times New Roman" panose="02020603050405020304" pitchFamily="18" charset="0"/>
              </a:rPr>
              <a:t>texto </a:t>
            </a:r>
            <a:r>
              <a:rPr lang="es-ES_tradnl" dirty="0">
                <a:latin typeface="Calibri" panose="020F0502020204030204" pitchFamily="34" charset="0"/>
                <a:ea typeface="Calibri" panose="020F0502020204030204" pitchFamily="34" charset="0"/>
                <a:cs typeface="TimesNewRomanPSMT"/>
              </a:rPr>
              <a:t>con ayuda del ratón: el cursor cambia de forma y se espera un</a:t>
            </a:r>
            <a:endParaRPr lang="es-AR"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s-ES_tradnl" dirty="0">
                <a:latin typeface="Calibri" panose="020F0502020204030204" pitchFamily="34" charset="0"/>
                <a:ea typeface="Calibri" panose="020F0502020204030204" pitchFamily="34" charset="0"/>
                <a:cs typeface="TimesNewRomanPSMT"/>
              </a:rPr>
              <a:t>clic para introducir el texto en esa posición</a:t>
            </a:r>
            <a:endParaRPr lang="es-AR"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s-ES_tradnl" dirty="0" err="1">
                <a:highlight>
                  <a:srgbClr val="FFFF00"/>
                </a:highlight>
                <a:latin typeface="Calibri" panose="020F0502020204030204" pitchFamily="34" charset="0"/>
                <a:ea typeface="Calibri" panose="020F0502020204030204" pitchFamily="34" charset="0"/>
                <a:cs typeface="TimesNewRomanPSMT"/>
              </a:rPr>
              <a:t>legend</a:t>
            </a:r>
            <a:r>
              <a:rPr lang="es-ES_tradnl" dirty="0">
                <a:highlight>
                  <a:srgbClr val="FFFF00"/>
                </a:highlight>
                <a:latin typeface="Calibri" panose="020F0502020204030204" pitchFamily="34" charset="0"/>
                <a:ea typeface="Calibri" panose="020F0502020204030204" pitchFamily="34" charset="0"/>
                <a:cs typeface="TimesNewRomanPSMT"/>
              </a:rPr>
              <a:t>()</a:t>
            </a:r>
            <a:r>
              <a:rPr lang="es-ES_tradnl" dirty="0">
                <a:latin typeface="Calibri" panose="020F0502020204030204" pitchFamily="34" charset="0"/>
                <a:ea typeface="Calibri" panose="020F0502020204030204" pitchFamily="34" charset="0"/>
                <a:cs typeface="TimesNewRomanPSMT"/>
              </a:rPr>
              <a:t> define rótulos para las distintas líneas o ejes utilizados en la figura. Para más detalle, consultar el </a:t>
            </a:r>
            <a:r>
              <a:rPr lang="es-ES_tradnl" b="1" i="1" dirty="0" err="1">
                <a:latin typeface="Calibri" panose="020F0502020204030204" pitchFamily="34" charset="0"/>
                <a:ea typeface="Calibri" panose="020F0502020204030204" pitchFamily="34" charset="0"/>
                <a:cs typeface="Times New Roman" panose="02020603050405020304" pitchFamily="18" charset="0"/>
              </a:rPr>
              <a:t>Help</a:t>
            </a:r>
            <a:endParaRPr lang="es-AR"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s-ES_tradnl" dirty="0" err="1">
                <a:highlight>
                  <a:srgbClr val="FFFF00"/>
                </a:highlight>
                <a:latin typeface="Calibri" panose="020F0502020204030204" pitchFamily="34" charset="0"/>
                <a:ea typeface="Calibri" panose="020F0502020204030204" pitchFamily="34" charset="0"/>
                <a:cs typeface="TimesNewRomanPSMT"/>
              </a:rPr>
              <a:t>grid</a:t>
            </a:r>
            <a:r>
              <a:rPr lang="es-ES_tradnl" dirty="0">
                <a:latin typeface="Calibri" panose="020F0502020204030204" pitchFamily="34" charset="0"/>
                <a:ea typeface="Calibri" panose="020F0502020204030204" pitchFamily="34" charset="0"/>
                <a:cs typeface="TimesNewRomanPSMT"/>
              </a:rPr>
              <a:t> activa la inclusión de una cuadrícula en el dibujo. Con </a:t>
            </a:r>
            <a:r>
              <a:rPr lang="es-ES_tradnl" b="1" i="1" dirty="0" err="1">
                <a:latin typeface="Calibri" panose="020F0502020204030204" pitchFamily="34" charset="0"/>
                <a:ea typeface="Calibri" panose="020F0502020204030204" pitchFamily="34" charset="0"/>
                <a:cs typeface="Times New Roman" panose="02020603050405020304" pitchFamily="18" charset="0"/>
              </a:rPr>
              <a:t>grid</a:t>
            </a:r>
            <a:r>
              <a:rPr lang="es-ES_tradnl" b="1" i="1" dirty="0">
                <a:latin typeface="Calibri" panose="020F0502020204030204" pitchFamily="34" charset="0"/>
                <a:ea typeface="Calibri" panose="020F0502020204030204" pitchFamily="34" charset="0"/>
                <a:cs typeface="Times New Roman" panose="02020603050405020304" pitchFamily="18" charset="0"/>
              </a:rPr>
              <a:t> off </a:t>
            </a:r>
            <a:r>
              <a:rPr lang="es-ES_tradnl" dirty="0">
                <a:latin typeface="Calibri" panose="020F0502020204030204" pitchFamily="34" charset="0"/>
                <a:ea typeface="Calibri" panose="020F0502020204030204" pitchFamily="34" charset="0"/>
                <a:cs typeface="TimesNewRomanPSMT"/>
              </a:rPr>
              <a:t>desaparece la cuadrícula</a:t>
            </a:r>
            <a:endParaRPr lang="es-AR"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027394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79A74460-9E36-3136-74E9-75B1D6DC1DA7}"/>
              </a:ext>
            </a:extLst>
          </p:cNvPr>
          <p:cNvSpPr txBox="1"/>
          <p:nvPr/>
        </p:nvSpPr>
        <p:spPr>
          <a:xfrm>
            <a:off x="194387" y="0"/>
            <a:ext cx="11318033" cy="6740307"/>
          </a:xfrm>
          <a:prstGeom prst="rect">
            <a:avLst/>
          </a:prstGeom>
          <a:noFill/>
        </p:spPr>
        <p:txBody>
          <a:bodyPr wrap="square">
            <a:spAutoFit/>
          </a:bodyPr>
          <a:lstStyle/>
          <a:p>
            <a:r>
              <a:rPr lang="es-AR" sz="1800" b="0" i="0" u="none" strike="noStrike" baseline="0" dirty="0">
                <a:solidFill>
                  <a:srgbClr val="228B22"/>
                </a:solidFill>
                <a:latin typeface="Courier New" panose="02070309020205020404" pitchFamily="49" charset="0"/>
              </a:rPr>
              <a:t>% Vector de valores de x</a:t>
            </a:r>
          </a:p>
          <a:p>
            <a:r>
              <a:rPr lang="es-AR" sz="1800" b="0" i="0" u="none" strike="noStrike" baseline="0" dirty="0">
                <a:solidFill>
                  <a:srgbClr val="000000"/>
                </a:solidFill>
                <a:latin typeface="Courier New" panose="02070309020205020404" pitchFamily="49" charset="0"/>
              </a:rPr>
              <a:t>x = </a:t>
            </a:r>
            <a:r>
              <a:rPr lang="es-AR" sz="1800" b="0" i="0" u="none" strike="noStrike" baseline="0" dirty="0" err="1">
                <a:solidFill>
                  <a:srgbClr val="000000"/>
                </a:solidFill>
                <a:latin typeface="Courier New" panose="02070309020205020404" pitchFamily="49" charset="0"/>
              </a:rPr>
              <a:t>logspace</a:t>
            </a:r>
            <a:r>
              <a:rPr lang="es-AR" sz="1800" b="0" i="0" u="none" strike="noStrike" baseline="0" dirty="0">
                <a:solidFill>
                  <a:srgbClr val="000000"/>
                </a:solidFill>
                <a:latin typeface="Courier New" panose="02070309020205020404" pitchFamily="49" charset="0"/>
              </a:rPr>
              <a:t>(-1, 2);</a:t>
            </a:r>
          </a:p>
          <a:p>
            <a:r>
              <a:rPr lang="es-AR" sz="1800" b="0" i="0" u="none" strike="noStrike" baseline="0" dirty="0">
                <a:solidFill>
                  <a:srgbClr val="000000"/>
                </a:solidFill>
                <a:latin typeface="Courier New" panose="02070309020205020404" pitchFamily="49" charset="0"/>
              </a:rPr>
              <a:t> </a:t>
            </a:r>
          </a:p>
          <a:p>
            <a:r>
              <a:rPr lang="es-AR" sz="1800" b="0" i="0" u="none" strike="noStrike" baseline="0" dirty="0">
                <a:solidFill>
                  <a:srgbClr val="228B22"/>
                </a:solidFill>
                <a:latin typeface="Courier New" panose="02070309020205020404" pitchFamily="49" charset="0"/>
              </a:rPr>
              <a:t>% Cálculo de la función</a:t>
            </a:r>
          </a:p>
          <a:p>
            <a:r>
              <a:rPr lang="es-AR" sz="1800" b="0" i="0" u="none" strike="noStrike" baseline="0" dirty="0">
                <a:solidFill>
                  <a:srgbClr val="000000"/>
                </a:solidFill>
                <a:latin typeface="Courier New" panose="02070309020205020404" pitchFamily="49" charset="0"/>
              </a:rPr>
              <a:t>y = </a:t>
            </a:r>
            <a:r>
              <a:rPr lang="es-AR" sz="1800" b="0" i="0" u="none" strike="noStrike" baseline="0" dirty="0" err="1">
                <a:solidFill>
                  <a:srgbClr val="000000"/>
                </a:solidFill>
                <a:latin typeface="Courier New" panose="02070309020205020404" pitchFamily="49" charset="0"/>
              </a:rPr>
              <a:t>exp</a:t>
            </a:r>
            <a:r>
              <a:rPr lang="es-AR" sz="1800" b="0" i="0" u="none" strike="noStrike" baseline="0" dirty="0">
                <a:solidFill>
                  <a:srgbClr val="000000"/>
                </a:solidFill>
                <a:latin typeface="Courier New" panose="02070309020205020404" pitchFamily="49" charset="0"/>
              </a:rPr>
              <a:t>(x);</a:t>
            </a:r>
          </a:p>
          <a:p>
            <a:r>
              <a:rPr lang="es-AR" sz="1800" b="0" i="0" u="none" strike="noStrike" baseline="0" dirty="0">
                <a:solidFill>
                  <a:srgbClr val="000000"/>
                </a:solidFill>
                <a:latin typeface="Courier New" panose="02070309020205020404" pitchFamily="49" charset="0"/>
              </a:rPr>
              <a:t> </a:t>
            </a:r>
          </a:p>
          <a:p>
            <a:r>
              <a:rPr lang="es-AR" sz="1800" b="0" i="0" u="none" strike="noStrike" baseline="0" dirty="0">
                <a:solidFill>
                  <a:srgbClr val="228B22"/>
                </a:solidFill>
                <a:latin typeface="Courier New" panose="02070309020205020404" pitchFamily="49" charset="0"/>
              </a:rPr>
              <a:t>% Crear la figura</a:t>
            </a:r>
          </a:p>
          <a:p>
            <a:r>
              <a:rPr lang="es-AR" sz="1800" b="0" i="0" u="none" strike="noStrike" baseline="0" dirty="0">
                <a:solidFill>
                  <a:srgbClr val="000000"/>
                </a:solidFill>
                <a:latin typeface="Courier New" panose="02070309020205020404" pitchFamily="49" charset="0"/>
              </a:rPr>
              <a:t>figure;</a:t>
            </a:r>
          </a:p>
          <a:p>
            <a:r>
              <a:rPr lang="es-AR" sz="1800" b="0" i="0" u="none" strike="noStrike" baseline="0" dirty="0">
                <a:solidFill>
                  <a:srgbClr val="000000"/>
                </a:solidFill>
                <a:latin typeface="Courier New" panose="02070309020205020404" pitchFamily="49" charset="0"/>
              </a:rPr>
              <a:t> </a:t>
            </a:r>
          </a:p>
          <a:p>
            <a:r>
              <a:rPr lang="es-AR" sz="1800" b="0" i="0" u="none" strike="noStrike" baseline="0" dirty="0">
                <a:solidFill>
                  <a:srgbClr val="228B22"/>
                </a:solidFill>
                <a:latin typeface="Courier New" panose="02070309020205020404" pitchFamily="49" charset="0"/>
              </a:rPr>
              <a:t>% Graficar en escala logarítmica</a:t>
            </a:r>
          </a:p>
          <a:p>
            <a:r>
              <a:rPr lang="es-AR" sz="1800" b="0" i="0" u="none" strike="noStrike" baseline="0" dirty="0" err="1">
                <a:solidFill>
                  <a:srgbClr val="000000"/>
                </a:solidFill>
                <a:latin typeface="Courier New" panose="02070309020205020404" pitchFamily="49" charset="0"/>
              </a:rPr>
              <a:t>loglog</a:t>
            </a:r>
            <a:r>
              <a:rPr lang="es-AR" sz="1800" b="0" i="0" u="none" strike="noStrike" baseline="0" dirty="0">
                <a:solidFill>
                  <a:srgbClr val="000000"/>
                </a:solidFill>
                <a:latin typeface="Courier New" panose="02070309020205020404" pitchFamily="49" charset="0"/>
              </a:rPr>
              <a:t>(x, y, </a:t>
            </a:r>
            <a:r>
              <a:rPr lang="es-AR" sz="1800" b="0" i="0" u="none" strike="noStrike" baseline="0" dirty="0">
                <a:solidFill>
                  <a:srgbClr val="A020F0"/>
                </a:solidFill>
                <a:latin typeface="Courier New" panose="02070309020205020404" pitchFamily="49" charset="0"/>
              </a:rPr>
              <a:t>'-s'</a:t>
            </a:r>
            <a:r>
              <a:rPr lang="es-AR" sz="1800" b="0" i="0" u="none" strike="noStrike" baseline="0" dirty="0">
                <a:solidFill>
                  <a:srgbClr val="000000"/>
                </a:solidFill>
                <a:latin typeface="Courier New" panose="02070309020205020404" pitchFamily="49" charset="0"/>
              </a:rPr>
              <a:t>, </a:t>
            </a:r>
            <a:r>
              <a:rPr lang="es-AR" sz="1800" b="0" i="0" u="none" strike="noStrike" baseline="0" dirty="0">
                <a:solidFill>
                  <a:srgbClr val="0000FF"/>
                </a:solidFill>
                <a:latin typeface="Courier New" panose="02070309020205020404" pitchFamily="49" charset="0"/>
              </a:rPr>
              <a:t>...</a:t>
            </a:r>
          </a:p>
          <a:p>
            <a:r>
              <a:rPr lang="es-AR" sz="1800" b="0" i="0" u="none" strike="noStrike" baseline="0" dirty="0">
                <a:solidFill>
                  <a:srgbClr val="000000"/>
                </a:solidFill>
                <a:latin typeface="Courier New" panose="02070309020205020404" pitchFamily="49" charset="0"/>
              </a:rPr>
              <a:t>    </a:t>
            </a:r>
            <a:r>
              <a:rPr lang="es-AR" sz="1800" b="0" i="0" u="none" strike="noStrike" baseline="0" dirty="0">
                <a:solidFill>
                  <a:srgbClr val="A020F0"/>
                </a:solidFill>
                <a:latin typeface="Courier New" panose="02070309020205020404" pitchFamily="49" charset="0"/>
              </a:rPr>
              <a:t>'</a:t>
            </a:r>
            <a:r>
              <a:rPr lang="es-AR" sz="1800" b="0" i="0" u="none" strike="noStrike" baseline="0" dirty="0" err="1">
                <a:solidFill>
                  <a:srgbClr val="A020F0"/>
                </a:solidFill>
                <a:latin typeface="Courier New" panose="02070309020205020404" pitchFamily="49" charset="0"/>
              </a:rPr>
              <a:t>LineWidth</a:t>
            </a:r>
            <a:r>
              <a:rPr lang="es-AR" sz="1800" b="0" i="0" u="none" strike="noStrike" baseline="0" dirty="0">
                <a:solidFill>
                  <a:srgbClr val="A020F0"/>
                </a:solidFill>
                <a:latin typeface="Courier New" panose="02070309020205020404" pitchFamily="49" charset="0"/>
              </a:rPr>
              <a:t>'</a:t>
            </a:r>
            <a:r>
              <a:rPr lang="es-AR" sz="1800" b="0" i="0" u="none" strike="noStrike" baseline="0" dirty="0">
                <a:solidFill>
                  <a:srgbClr val="000000"/>
                </a:solidFill>
                <a:latin typeface="Courier New" panose="02070309020205020404" pitchFamily="49" charset="0"/>
              </a:rPr>
              <a:t>, 1.5, </a:t>
            </a:r>
            <a:r>
              <a:rPr lang="es-AR" sz="1800" b="0" i="0" u="none" strike="noStrike" baseline="0" dirty="0">
                <a:solidFill>
                  <a:srgbClr val="0000FF"/>
                </a:solidFill>
                <a:latin typeface="Courier New" panose="02070309020205020404" pitchFamily="49" charset="0"/>
              </a:rPr>
              <a:t>...</a:t>
            </a:r>
          </a:p>
          <a:p>
            <a:r>
              <a:rPr lang="es-AR" sz="1800" b="0" i="0" u="none" strike="noStrike" baseline="0" dirty="0">
                <a:solidFill>
                  <a:srgbClr val="000000"/>
                </a:solidFill>
                <a:latin typeface="Courier New" panose="02070309020205020404" pitchFamily="49" charset="0"/>
              </a:rPr>
              <a:t>    </a:t>
            </a:r>
            <a:r>
              <a:rPr lang="es-AR" sz="1800" b="0" i="0" u="none" strike="noStrike" baseline="0" dirty="0">
                <a:solidFill>
                  <a:srgbClr val="A020F0"/>
                </a:solidFill>
                <a:latin typeface="Courier New" panose="02070309020205020404" pitchFamily="49" charset="0"/>
              </a:rPr>
              <a:t>'</a:t>
            </a:r>
            <a:r>
              <a:rPr lang="es-AR" sz="1800" b="0" i="0" u="none" strike="noStrike" baseline="0" dirty="0" err="1">
                <a:solidFill>
                  <a:srgbClr val="A020F0"/>
                </a:solidFill>
                <a:latin typeface="Courier New" panose="02070309020205020404" pitchFamily="49" charset="0"/>
              </a:rPr>
              <a:t>MarkerSize</a:t>
            </a:r>
            <a:r>
              <a:rPr lang="es-AR" sz="1800" b="0" i="0" u="none" strike="noStrike" baseline="0" dirty="0">
                <a:solidFill>
                  <a:srgbClr val="A020F0"/>
                </a:solidFill>
                <a:latin typeface="Courier New" panose="02070309020205020404" pitchFamily="49" charset="0"/>
              </a:rPr>
              <a:t>'</a:t>
            </a:r>
            <a:r>
              <a:rPr lang="es-AR" sz="1800" b="0" i="0" u="none" strike="noStrike" baseline="0" dirty="0">
                <a:solidFill>
                  <a:srgbClr val="000000"/>
                </a:solidFill>
                <a:latin typeface="Courier New" panose="02070309020205020404" pitchFamily="49" charset="0"/>
              </a:rPr>
              <a:t>, 6);</a:t>
            </a:r>
          </a:p>
          <a:p>
            <a:r>
              <a:rPr lang="es-AR" sz="1800" b="0" i="0" u="none" strike="noStrike" baseline="0" dirty="0">
                <a:solidFill>
                  <a:srgbClr val="000000"/>
                </a:solidFill>
                <a:latin typeface="Courier New" panose="02070309020205020404" pitchFamily="49" charset="0"/>
              </a:rPr>
              <a:t> </a:t>
            </a:r>
          </a:p>
          <a:p>
            <a:r>
              <a:rPr lang="es-AR" sz="1800" b="0" i="0" u="none" strike="noStrike" baseline="0" dirty="0">
                <a:solidFill>
                  <a:srgbClr val="228B22"/>
                </a:solidFill>
                <a:latin typeface="Courier New" panose="02070309020205020404" pitchFamily="49" charset="0"/>
              </a:rPr>
              <a:t>% Título y etiquetas</a:t>
            </a:r>
          </a:p>
          <a:p>
            <a:r>
              <a:rPr lang="es-AR" sz="1800" b="0" i="0" u="none" strike="noStrike" baseline="0" dirty="0" err="1">
                <a:solidFill>
                  <a:srgbClr val="000000"/>
                </a:solidFill>
                <a:latin typeface="Courier New" panose="02070309020205020404" pitchFamily="49" charset="0"/>
              </a:rPr>
              <a:t>title</a:t>
            </a:r>
            <a:r>
              <a:rPr lang="es-AR" sz="1800" b="0" i="0" u="none" strike="noStrike" baseline="0" dirty="0">
                <a:solidFill>
                  <a:srgbClr val="000000"/>
                </a:solidFill>
                <a:latin typeface="Courier New" panose="02070309020205020404" pitchFamily="49" charset="0"/>
              </a:rPr>
              <a:t>(</a:t>
            </a:r>
            <a:r>
              <a:rPr lang="es-AR" sz="1800" b="0" i="0" u="none" strike="noStrike" baseline="0" dirty="0">
                <a:solidFill>
                  <a:srgbClr val="A020F0"/>
                </a:solidFill>
                <a:latin typeface="Courier New" panose="02070309020205020404" pitchFamily="49" charset="0"/>
              </a:rPr>
              <a:t>'Gráfica de la función y = </a:t>
            </a:r>
            <a:r>
              <a:rPr lang="es-AR" sz="1800" b="0" i="0" u="none" strike="noStrike" baseline="0" dirty="0" err="1">
                <a:solidFill>
                  <a:srgbClr val="A020F0"/>
                </a:solidFill>
                <a:latin typeface="Courier New" panose="02070309020205020404" pitchFamily="49" charset="0"/>
              </a:rPr>
              <a:t>e^x</a:t>
            </a:r>
            <a:r>
              <a:rPr lang="es-AR" sz="1800" b="0" i="0" u="none" strike="noStrike" baseline="0" dirty="0">
                <a:solidFill>
                  <a:srgbClr val="A020F0"/>
                </a:solidFill>
                <a:latin typeface="Courier New" panose="02070309020205020404" pitchFamily="49" charset="0"/>
              </a:rPr>
              <a:t> en escala logarítmica'</a:t>
            </a:r>
            <a:r>
              <a:rPr lang="es-AR" sz="1800" b="0" i="0" u="none" strike="noStrike" baseline="0" dirty="0">
                <a:solidFill>
                  <a:srgbClr val="000000"/>
                </a:solidFill>
                <a:latin typeface="Courier New" panose="02070309020205020404" pitchFamily="49" charset="0"/>
              </a:rPr>
              <a:t>);</a:t>
            </a:r>
          </a:p>
          <a:p>
            <a:r>
              <a:rPr lang="es-AR" sz="1800" b="0" i="0" u="none" strike="noStrike" baseline="0" dirty="0" err="1">
                <a:solidFill>
                  <a:srgbClr val="000000"/>
                </a:solidFill>
                <a:latin typeface="Courier New" panose="02070309020205020404" pitchFamily="49" charset="0"/>
              </a:rPr>
              <a:t>xlabel</a:t>
            </a:r>
            <a:r>
              <a:rPr lang="es-AR" sz="1800" b="0" i="0" u="none" strike="noStrike" baseline="0" dirty="0">
                <a:solidFill>
                  <a:srgbClr val="000000"/>
                </a:solidFill>
                <a:latin typeface="Courier New" panose="02070309020205020404" pitchFamily="49" charset="0"/>
              </a:rPr>
              <a:t>(</a:t>
            </a:r>
            <a:r>
              <a:rPr lang="es-AR" sz="1800" b="0" i="0" u="none" strike="noStrike" baseline="0" dirty="0">
                <a:solidFill>
                  <a:srgbClr val="A020F0"/>
                </a:solidFill>
                <a:latin typeface="Courier New" panose="02070309020205020404" pitchFamily="49" charset="0"/>
              </a:rPr>
              <a:t>‘x'</a:t>
            </a:r>
            <a:r>
              <a:rPr lang="es-AR" sz="1800" b="0" i="0" u="none" strike="noStrike" baseline="0" dirty="0">
                <a:solidFill>
                  <a:srgbClr val="000000"/>
                </a:solidFill>
                <a:latin typeface="Courier New" panose="02070309020205020404" pitchFamily="49" charset="0"/>
              </a:rPr>
              <a:t>);</a:t>
            </a:r>
          </a:p>
          <a:p>
            <a:r>
              <a:rPr lang="es-AR" sz="1800" b="0" i="0" u="none" strike="noStrike" baseline="0" dirty="0" err="1">
                <a:solidFill>
                  <a:srgbClr val="000000"/>
                </a:solidFill>
                <a:latin typeface="Courier New" panose="02070309020205020404" pitchFamily="49" charset="0"/>
              </a:rPr>
              <a:t>ylabel</a:t>
            </a:r>
            <a:r>
              <a:rPr lang="es-AR" sz="1800" b="0" i="0" u="none" strike="noStrike" baseline="0" dirty="0">
                <a:solidFill>
                  <a:srgbClr val="000000"/>
                </a:solidFill>
                <a:latin typeface="Courier New" panose="02070309020205020404" pitchFamily="49" charset="0"/>
              </a:rPr>
              <a:t>(</a:t>
            </a:r>
            <a:r>
              <a:rPr lang="es-AR" sz="1800" b="0" i="0" u="none" strike="noStrike" baseline="0" dirty="0">
                <a:solidFill>
                  <a:srgbClr val="A020F0"/>
                </a:solidFill>
                <a:latin typeface="Courier New" panose="02070309020205020404" pitchFamily="49" charset="0"/>
              </a:rPr>
              <a:t>‘f(x)'</a:t>
            </a:r>
            <a:r>
              <a:rPr lang="es-AR" sz="1800" b="0" i="0" u="none" strike="noStrike" baseline="0" dirty="0">
                <a:solidFill>
                  <a:srgbClr val="000000"/>
                </a:solidFill>
                <a:latin typeface="Courier New" panose="02070309020205020404" pitchFamily="49" charset="0"/>
              </a:rPr>
              <a:t>);</a:t>
            </a:r>
          </a:p>
          <a:p>
            <a:r>
              <a:rPr lang="es-AR" sz="1800" b="0" i="0" u="none" strike="noStrike" baseline="0" dirty="0">
                <a:solidFill>
                  <a:srgbClr val="000000"/>
                </a:solidFill>
                <a:latin typeface="Courier New" panose="02070309020205020404" pitchFamily="49" charset="0"/>
              </a:rPr>
              <a:t> </a:t>
            </a:r>
          </a:p>
          <a:p>
            <a:r>
              <a:rPr lang="es-AR" sz="1800" b="0" i="0" u="none" strike="noStrike" baseline="0" dirty="0">
                <a:solidFill>
                  <a:srgbClr val="228B22"/>
                </a:solidFill>
                <a:latin typeface="Courier New" panose="02070309020205020404" pitchFamily="49" charset="0"/>
              </a:rPr>
              <a:t>% Leyenda</a:t>
            </a:r>
          </a:p>
          <a:p>
            <a:r>
              <a:rPr lang="en-US" sz="1800" b="0" i="0" u="none" strike="noStrike" baseline="0" dirty="0">
                <a:solidFill>
                  <a:srgbClr val="000000"/>
                </a:solidFill>
                <a:latin typeface="Courier New" panose="02070309020205020404" pitchFamily="49" charset="0"/>
              </a:rPr>
              <a:t>legend(</a:t>
            </a:r>
            <a:r>
              <a:rPr lang="en-US" sz="1800" b="0" i="0" u="none" strike="noStrike" baseline="0" dirty="0">
                <a:solidFill>
                  <a:srgbClr val="A020F0"/>
                </a:solidFill>
                <a:latin typeface="Courier New" panose="02070309020205020404" pitchFamily="49" charset="0"/>
              </a:rPr>
              <a:t>'y = </a:t>
            </a:r>
            <a:r>
              <a:rPr lang="en-US" sz="1800" b="0" i="0" u="none" strike="noStrike" baseline="0" dirty="0" err="1">
                <a:solidFill>
                  <a:srgbClr val="A020F0"/>
                </a:solidFill>
                <a:latin typeface="Courier New" panose="02070309020205020404" pitchFamily="49" charset="0"/>
              </a:rPr>
              <a:t>e^x</a:t>
            </a:r>
            <a:r>
              <a:rPr lang="en-US" sz="1800" b="0" i="0" u="none" strike="noStrike" baseline="0" dirty="0">
                <a:solidFill>
                  <a:srgbClr val="A020F0"/>
                </a:solidFill>
                <a:latin typeface="Courier New" panose="02070309020205020404" pitchFamily="49" charset="0"/>
              </a:rPr>
              <a:t>'</a:t>
            </a:r>
            <a:r>
              <a:rPr lang="en-US" sz="1800" b="0" i="0" u="none" strike="noStrike" baseline="0" dirty="0">
                <a:solidFill>
                  <a:srgbClr val="000000"/>
                </a:solidFill>
                <a:latin typeface="Courier New" panose="02070309020205020404" pitchFamily="49" charset="0"/>
              </a:rPr>
              <a:t>, </a:t>
            </a:r>
            <a:r>
              <a:rPr lang="en-US" sz="1800" b="0" i="0" u="none" strike="noStrike" baseline="0" dirty="0">
                <a:solidFill>
                  <a:srgbClr val="A020F0"/>
                </a:solidFill>
                <a:latin typeface="Courier New" panose="02070309020205020404" pitchFamily="49" charset="0"/>
              </a:rPr>
              <a:t>'Location'</a:t>
            </a:r>
            <a:r>
              <a:rPr lang="en-US" sz="1800" b="0" i="0" u="none" strike="noStrike" baseline="0" dirty="0">
                <a:solidFill>
                  <a:srgbClr val="000000"/>
                </a:solidFill>
                <a:latin typeface="Courier New" panose="02070309020205020404" pitchFamily="49" charset="0"/>
              </a:rPr>
              <a:t>, </a:t>
            </a:r>
            <a:r>
              <a:rPr lang="en-US" sz="1800" b="0" i="0" u="none" strike="noStrike" baseline="0" dirty="0">
                <a:solidFill>
                  <a:srgbClr val="A020F0"/>
                </a:solidFill>
                <a:latin typeface="Courier New" panose="02070309020205020404" pitchFamily="49" charset="0"/>
              </a:rPr>
              <a:t>'northwest'</a:t>
            </a:r>
            <a:r>
              <a:rPr lang="en-US" sz="1800" b="0" i="0" u="none" strike="noStrike" baseline="0" dirty="0">
                <a:solidFill>
                  <a:srgbClr val="000000"/>
                </a:solidFill>
                <a:latin typeface="Courier New" panose="02070309020205020404" pitchFamily="49" charset="0"/>
              </a:rPr>
              <a:t>);</a:t>
            </a:r>
          </a:p>
          <a:p>
            <a:r>
              <a:rPr lang="es-AR" sz="1800" b="0" i="0" u="none" strike="noStrike" baseline="0" dirty="0">
                <a:solidFill>
                  <a:srgbClr val="000000"/>
                </a:solidFill>
                <a:latin typeface="Courier New" panose="02070309020205020404" pitchFamily="49" charset="0"/>
              </a:rPr>
              <a:t> </a:t>
            </a:r>
          </a:p>
          <a:p>
            <a:r>
              <a:rPr lang="es-AR" sz="1800" b="0" i="0" u="none" strike="noStrike" baseline="0" dirty="0">
                <a:solidFill>
                  <a:srgbClr val="228B22"/>
                </a:solidFill>
                <a:latin typeface="Courier New" panose="02070309020205020404" pitchFamily="49" charset="0"/>
              </a:rPr>
              <a:t>% Activar la grilla</a:t>
            </a:r>
          </a:p>
          <a:p>
            <a:r>
              <a:rPr lang="es-AR" sz="1800" b="0" i="0" u="none" strike="noStrike" baseline="0" dirty="0" err="1">
                <a:solidFill>
                  <a:srgbClr val="000000"/>
                </a:solidFill>
                <a:latin typeface="Courier New" panose="02070309020205020404" pitchFamily="49" charset="0"/>
              </a:rPr>
              <a:t>grid</a:t>
            </a:r>
            <a:r>
              <a:rPr lang="es-AR" sz="1800" b="0" i="0" u="none" strike="noStrike" baseline="0" dirty="0">
                <a:solidFill>
                  <a:srgbClr val="000000"/>
                </a:solidFill>
                <a:latin typeface="Courier New" panose="02070309020205020404" pitchFamily="49" charset="0"/>
              </a:rPr>
              <a:t> </a:t>
            </a:r>
            <a:r>
              <a:rPr lang="es-AR" sz="1800" b="0" i="0" u="none" strike="noStrike" baseline="0" dirty="0" err="1">
                <a:solidFill>
                  <a:srgbClr val="A020F0"/>
                </a:solidFill>
                <a:latin typeface="Courier New" panose="02070309020205020404" pitchFamily="49" charset="0"/>
              </a:rPr>
              <a:t>on</a:t>
            </a:r>
            <a:r>
              <a:rPr lang="es-AR" sz="1800" b="0" i="0" u="none" strike="noStrike" baseline="0" dirty="0">
                <a:solidFill>
                  <a:srgbClr val="000000"/>
                </a:solidFill>
                <a:latin typeface="Courier New" panose="02070309020205020404" pitchFamily="49" charset="0"/>
              </a:rPr>
              <a:t>;</a:t>
            </a:r>
          </a:p>
        </p:txBody>
      </p:sp>
      <p:pic>
        <p:nvPicPr>
          <p:cNvPr id="13" name="Imagen 12">
            <a:extLst>
              <a:ext uri="{FF2B5EF4-FFF2-40B4-BE49-F238E27FC236}">
                <a16:creationId xmlns:a16="http://schemas.microsoft.com/office/drawing/2014/main" id="{E68352BD-2BDA-8C2A-80E4-B7F1B5A6D4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54756" y="0"/>
            <a:ext cx="5342857" cy="4000000"/>
          </a:xfrm>
          <a:prstGeom prst="rect">
            <a:avLst/>
          </a:prstGeom>
        </p:spPr>
      </p:pic>
    </p:spTree>
    <p:extLst>
      <p:ext uri="{BB962C8B-B14F-4D97-AF65-F5344CB8AC3E}">
        <p14:creationId xmlns:p14="http://schemas.microsoft.com/office/powerpoint/2010/main" val="33653301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11951855" cy="1720471"/>
          </a:xfrm>
          <a:prstGeom prst="rect">
            <a:avLst/>
          </a:prstGeom>
        </p:spPr>
        <p:txBody>
          <a:bodyPr wrap="square">
            <a:spAutoFit/>
          </a:bodyPr>
          <a:lstStyle/>
          <a:p>
            <a:pPr>
              <a:lnSpc>
                <a:spcPct val="115000"/>
              </a:lnSpc>
              <a:spcAft>
                <a:spcPts val="0"/>
              </a:spcAft>
            </a:pPr>
            <a:r>
              <a:rPr lang="es-ES_tradnl" sz="2000" b="1" dirty="0" err="1">
                <a:latin typeface="Calibri" panose="020F0502020204030204" pitchFamily="34" charset="0"/>
                <a:ea typeface="Calibri" panose="020F0502020204030204" pitchFamily="34" charset="0"/>
                <a:cs typeface="TimesNewRomanPSMT"/>
              </a:rPr>
              <a:t>Subplot</a:t>
            </a:r>
            <a:r>
              <a:rPr lang="es-ES_tradnl" sz="2000" b="1" dirty="0">
                <a:latin typeface="Calibri" panose="020F0502020204030204" pitchFamily="34" charset="0"/>
                <a:ea typeface="Calibri" panose="020F0502020204030204" pitchFamily="34" charset="0"/>
                <a:cs typeface="TimesNewRomanPSMT"/>
              </a:rPr>
              <a:t>:</a:t>
            </a:r>
            <a:r>
              <a:rPr lang="es-ES_tradnl" dirty="0">
                <a:latin typeface="Calibri" panose="020F0502020204030204" pitchFamily="34" charset="0"/>
                <a:ea typeface="Calibri" panose="020F0502020204030204" pitchFamily="34" charset="0"/>
                <a:cs typeface="TimesNewRomanPSMT"/>
              </a:rPr>
              <a:t> Una ventana gráfica se puede dividir en </a:t>
            </a:r>
            <a:r>
              <a:rPr lang="es-ES_tradnl" b="1" dirty="0">
                <a:latin typeface="Calibri" panose="020F0502020204030204" pitchFamily="34" charset="0"/>
                <a:ea typeface="Calibri" panose="020F0502020204030204" pitchFamily="34" charset="0"/>
                <a:cs typeface="Times New Roman" panose="02020603050405020304" pitchFamily="18" charset="0"/>
              </a:rPr>
              <a:t>m </a:t>
            </a:r>
            <a:r>
              <a:rPr lang="es-ES_tradnl" dirty="0">
                <a:latin typeface="Calibri" panose="020F0502020204030204" pitchFamily="34" charset="0"/>
                <a:ea typeface="Calibri" panose="020F0502020204030204" pitchFamily="34" charset="0"/>
                <a:cs typeface="TimesNewRomanPSMT"/>
              </a:rPr>
              <a:t>particiones horizontales y </a:t>
            </a:r>
            <a:r>
              <a:rPr lang="es-ES_tradnl" b="1" dirty="0">
                <a:latin typeface="Calibri" panose="020F0502020204030204" pitchFamily="34" charset="0"/>
                <a:ea typeface="Calibri" panose="020F0502020204030204" pitchFamily="34" charset="0"/>
                <a:cs typeface="Times New Roman" panose="02020603050405020304" pitchFamily="18" charset="0"/>
              </a:rPr>
              <a:t>n </a:t>
            </a:r>
            <a:r>
              <a:rPr lang="es-ES_tradnl" dirty="0">
                <a:latin typeface="Calibri" panose="020F0502020204030204" pitchFamily="34" charset="0"/>
                <a:ea typeface="Calibri" panose="020F0502020204030204" pitchFamily="34" charset="0"/>
                <a:cs typeface="TimesNewRomanPSMT"/>
              </a:rPr>
              <a:t>verticales, con objeto de representar múltiples gráficos en ella. Cada una de estas </a:t>
            </a:r>
            <a:r>
              <a:rPr lang="es-ES_tradnl" dirty="0" err="1">
                <a:latin typeface="Calibri" panose="020F0502020204030204" pitchFamily="34" charset="0"/>
                <a:ea typeface="Calibri" panose="020F0502020204030204" pitchFamily="34" charset="0"/>
                <a:cs typeface="TimesNewRomanPSMT"/>
              </a:rPr>
              <a:t>subventanas</a:t>
            </a:r>
            <a:r>
              <a:rPr lang="es-ES_tradnl" dirty="0">
                <a:latin typeface="Calibri" panose="020F0502020204030204" pitchFamily="34" charset="0"/>
                <a:ea typeface="Calibri" panose="020F0502020204030204" pitchFamily="34" charset="0"/>
                <a:cs typeface="TimesNewRomanPSMT"/>
              </a:rPr>
              <a:t> tiene sus propios ejes, aunque otras propiedades son comunes a toda la figura. La forma general de este comando es:</a:t>
            </a:r>
            <a:r>
              <a:rPr lang="es-AR" dirty="0">
                <a:latin typeface="Calibri" panose="020F0502020204030204" pitchFamily="34" charset="0"/>
                <a:ea typeface="Calibri" panose="020F0502020204030204" pitchFamily="34" charset="0"/>
                <a:cs typeface="Times New Roman" panose="02020603050405020304" pitchFamily="18" charset="0"/>
              </a:rPr>
              <a:t> </a:t>
            </a:r>
            <a:r>
              <a:rPr lang="es-ES_tradnl" b="1" dirty="0" err="1">
                <a:highlight>
                  <a:srgbClr val="FFFF00"/>
                </a:highlight>
                <a:latin typeface="Calibri" panose="020F0502020204030204" pitchFamily="34" charset="0"/>
                <a:ea typeface="Calibri" panose="020F0502020204030204" pitchFamily="34" charset="0"/>
                <a:cs typeface="Courier New" panose="02070309020205020404" pitchFamily="49" charset="0"/>
              </a:rPr>
              <a:t>subplot</a:t>
            </a:r>
            <a:r>
              <a:rPr lang="es-ES_tradnl" b="1" dirty="0">
                <a:highlight>
                  <a:srgbClr val="FFFF00"/>
                </a:highlight>
                <a:latin typeface="Calibri" panose="020F0502020204030204" pitchFamily="34" charset="0"/>
                <a:ea typeface="Calibri" panose="020F0502020204030204" pitchFamily="34" charset="0"/>
                <a:cs typeface="Courier New" panose="02070309020205020404" pitchFamily="49" charset="0"/>
              </a:rPr>
              <a:t>(</a:t>
            </a:r>
            <a:r>
              <a:rPr lang="es-ES_tradnl" b="1" dirty="0" err="1">
                <a:highlight>
                  <a:srgbClr val="FFFF00"/>
                </a:highlight>
                <a:latin typeface="Calibri" panose="020F0502020204030204" pitchFamily="34" charset="0"/>
                <a:ea typeface="Calibri" panose="020F0502020204030204" pitchFamily="34" charset="0"/>
                <a:cs typeface="Courier New" panose="02070309020205020404" pitchFamily="49" charset="0"/>
              </a:rPr>
              <a:t>m,n,i</a:t>
            </a:r>
            <a:r>
              <a:rPr lang="es-ES_tradnl" b="1" dirty="0">
                <a:highlight>
                  <a:srgbClr val="FFFF00"/>
                </a:highlight>
                <a:latin typeface="Calibri" panose="020F0502020204030204" pitchFamily="34" charset="0"/>
                <a:ea typeface="Calibri" panose="020F0502020204030204" pitchFamily="34" charset="0"/>
                <a:cs typeface="Courier New" panose="02070309020205020404" pitchFamily="49" charset="0"/>
              </a:rPr>
              <a:t>) </a:t>
            </a:r>
            <a:r>
              <a:rPr lang="es-ES_tradnl" dirty="0"/>
              <a:t>donde </a:t>
            </a:r>
            <a:r>
              <a:rPr lang="es-ES_tradnl" b="1" dirty="0"/>
              <a:t>m </a:t>
            </a:r>
            <a:r>
              <a:rPr lang="es-ES_tradnl" dirty="0"/>
              <a:t>y </a:t>
            </a:r>
            <a:r>
              <a:rPr lang="es-ES_tradnl" b="1" dirty="0"/>
              <a:t>n </a:t>
            </a:r>
            <a:r>
              <a:rPr lang="es-ES_tradnl" dirty="0"/>
              <a:t>son el número de subdivisiones en filas y columnas, e </a:t>
            </a:r>
            <a:r>
              <a:rPr lang="es-ES_tradnl" b="1" dirty="0"/>
              <a:t>i </a:t>
            </a:r>
            <a:r>
              <a:rPr lang="es-ES_tradnl" dirty="0"/>
              <a:t>es la subdivisión que se convierte en activa. Las subdivisiones se numeran consecutivamente empezando por las de la primera fila, siguiendo por las de la segunda, etc.</a:t>
            </a:r>
            <a:endParaRPr lang="es-AR" dirty="0">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ángulo 4"/>
          <p:cNvSpPr/>
          <p:nvPr/>
        </p:nvSpPr>
        <p:spPr>
          <a:xfrm>
            <a:off x="92363" y="1720471"/>
            <a:ext cx="6096000" cy="1862048"/>
          </a:xfrm>
          <a:prstGeom prst="rect">
            <a:avLst/>
          </a:prstGeom>
        </p:spPr>
        <p:txBody>
          <a:bodyPr>
            <a:spAutoFit/>
          </a:bodyPr>
          <a:lstStyle/>
          <a:p>
            <a:pPr>
              <a:lnSpc>
                <a:spcPct val="115000"/>
              </a:lnSpc>
              <a:spcAft>
                <a:spcPts val="0"/>
              </a:spcAft>
            </a:pPr>
            <a:r>
              <a:rPr lang="es-ES_tradnl" sz="2000" dirty="0">
                <a:ea typeface="Calibri" panose="020F0502020204030204" pitchFamily="34" charset="0"/>
                <a:cs typeface="Times New Roman" panose="02020603050405020304" pitchFamily="18" charset="0"/>
              </a:rPr>
              <a:t>y=sin(x); z=</a:t>
            </a:r>
            <a:r>
              <a:rPr lang="es-ES_tradnl" sz="2000" dirty="0" err="1">
                <a:ea typeface="Calibri" panose="020F0502020204030204" pitchFamily="34" charset="0"/>
                <a:cs typeface="Times New Roman" panose="02020603050405020304" pitchFamily="18" charset="0"/>
              </a:rPr>
              <a:t>cos</a:t>
            </a:r>
            <a:r>
              <a:rPr lang="es-ES_tradnl" sz="2000" dirty="0">
                <a:ea typeface="Calibri" panose="020F0502020204030204" pitchFamily="34" charset="0"/>
                <a:cs typeface="Times New Roman" panose="02020603050405020304" pitchFamily="18" charset="0"/>
              </a:rPr>
              <a:t>(x); w=</a:t>
            </a:r>
            <a:r>
              <a:rPr lang="es-ES_tradnl" sz="2000" dirty="0" err="1">
                <a:ea typeface="Calibri" panose="020F0502020204030204" pitchFamily="34" charset="0"/>
                <a:cs typeface="Times New Roman" panose="02020603050405020304" pitchFamily="18" charset="0"/>
              </a:rPr>
              <a:t>exp</a:t>
            </a:r>
            <a:r>
              <a:rPr lang="es-ES_tradnl" sz="2000" dirty="0">
                <a:ea typeface="Calibri" panose="020F0502020204030204" pitchFamily="34" charset="0"/>
                <a:cs typeface="Times New Roman" panose="02020603050405020304" pitchFamily="18" charset="0"/>
              </a:rPr>
              <a:t>(-x*.1).*y; v=y.*z;</a:t>
            </a:r>
            <a:endParaRPr lang="es-AR" sz="2000" dirty="0">
              <a:ea typeface="Calibri" panose="020F0502020204030204" pitchFamily="34" charset="0"/>
              <a:cs typeface="Times New Roman" panose="02020603050405020304" pitchFamily="18" charset="0"/>
            </a:endParaRPr>
          </a:p>
          <a:p>
            <a:pPr>
              <a:lnSpc>
                <a:spcPct val="115000"/>
              </a:lnSpc>
              <a:spcAft>
                <a:spcPts val="0"/>
              </a:spcAft>
            </a:pPr>
            <a:r>
              <a:rPr lang="en-US" sz="2000" dirty="0">
                <a:ea typeface="Calibri" panose="020F0502020204030204" pitchFamily="34" charset="0"/>
                <a:cs typeface="Times New Roman" panose="02020603050405020304" pitchFamily="18" charset="0"/>
              </a:rPr>
              <a:t>subplot(2,2,1), plot(</a:t>
            </a:r>
            <a:r>
              <a:rPr lang="en-US" sz="2000" dirty="0" err="1">
                <a:ea typeface="Calibri" panose="020F0502020204030204" pitchFamily="34" charset="0"/>
                <a:cs typeface="Times New Roman" panose="02020603050405020304" pitchFamily="18" charset="0"/>
              </a:rPr>
              <a:t>x,y</a:t>
            </a:r>
            <a:r>
              <a:rPr lang="en-US" sz="2000" dirty="0">
                <a:ea typeface="Calibri" panose="020F0502020204030204" pitchFamily="34" charset="0"/>
                <a:cs typeface="Times New Roman" panose="02020603050405020304" pitchFamily="18" charset="0"/>
              </a:rPr>
              <a:t>)</a:t>
            </a:r>
            <a:endParaRPr lang="es-AR" sz="2000" dirty="0">
              <a:ea typeface="Calibri" panose="020F0502020204030204" pitchFamily="34" charset="0"/>
              <a:cs typeface="Times New Roman" panose="02020603050405020304" pitchFamily="18" charset="0"/>
            </a:endParaRPr>
          </a:p>
          <a:p>
            <a:pPr>
              <a:lnSpc>
                <a:spcPct val="115000"/>
              </a:lnSpc>
              <a:spcAft>
                <a:spcPts val="0"/>
              </a:spcAft>
            </a:pPr>
            <a:r>
              <a:rPr lang="en-US" sz="2000" dirty="0">
                <a:ea typeface="Calibri" panose="020F0502020204030204" pitchFamily="34" charset="0"/>
                <a:cs typeface="Times New Roman" panose="02020603050405020304" pitchFamily="18" charset="0"/>
              </a:rPr>
              <a:t>subplot(2,2,2), plot(</a:t>
            </a:r>
            <a:r>
              <a:rPr lang="en-US" sz="2000" dirty="0" err="1">
                <a:ea typeface="Calibri" panose="020F0502020204030204" pitchFamily="34" charset="0"/>
                <a:cs typeface="Times New Roman" panose="02020603050405020304" pitchFamily="18" charset="0"/>
              </a:rPr>
              <a:t>x,z</a:t>
            </a:r>
            <a:r>
              <a:rPr lang="en-US" sz="2000" dirty="0">
                <a:ea typeface="Calibri" panose="020F0502020204030204" pitchFamily="34" charset="0"/>
                <a:cs typeface="Times New Roman" panose="02020603050405020304" pitchFamily="18" charset="0"/>
              </a:rPr>
              <a:t>)</a:t>
            </a:r>
            <a:endParaRPr lang="es-AR" sz="2000" dirty="0">
              <a:ea typeface="Calibri" panose="020F0502020204030204" pitchFamily="34" charset="0"/>
              <a:cs typeface="Times New Roman" panose="02020603050405020304" pitchFamily="18" charset="0"/>
            </a:endParaRPr>
          </a:p>
          <a:p>
            <a:pPr>
              <a:lnSpc>
                <a:spcPct val="115000"/>
              </a:lnSpc>
              <a:spcAft>
                <a:spcPts val="0"/>
              </a:spcAft>
            </a:pPr>
            <a:r>
              <a:rPr lang="en-US" sz="2000" dirty="0">
                <a:ea typeface="Calibri" panose="020F0502020204030204" pitchFamily="34" charset="0"/>
                <a:cs typeface="Times New Roman" panose="02020603050405020304" pitchFamily="18" charset="0"/>
              </a:rPr>
              <a:t>subplot(2,2,3), plot(</a:t>
            </a:r>
            <a:r>
              <a:rPr lang="en-US" sz="2000" dirty="0" err="1">
                <a:ea typeface="Calibri" panose="020F0502020204030204" pitchFamily="34" charset="0"/>
                <a:cs typeface="Times New Roman" panose="02020603050405020304" pitchFamily="18" charset="0"/>
              </a:rPr>
              <a:t>x,w</a:t>
            </a:r>
            <a:r>
              <a:rPr lang="en-US" sz="2000" dirty="0">
                <a:ea typeface="Calibri" panose="020F0502020204030204" pitchFamily="34" charset="0"/>
                <a:cs typeface="Times New Roman" panose="02020603050405020304" pitchFamily="18" charset="0"/>
              </a:rPr>
              <a:t>)</a:t>
            </a:r>
            <a:endParaRPr lang="es-AR" sz="2000" dirty="0">
              <a:ea typeface="Calibri" panose="020F0502020204030204" pitchFamily="34" charset="0"/>
              <a:cs typeface="Times New Roman" panose="02020603050405020304" pitchFamily="18" charset="0"/>
            </a:endParaRPr>
          </a:p>
          <a:p>
            <a:pPr>
              <a:lnSpc>
                <a:spcPct val="115000"/>
              </a:lnSpc>
              <a:spcAft>
                <a:spcPts val="0"/>
              </a:spcAft>
            </a:pPr>
            <a:r>
              <a:rPr lang="en-US" sz="2000" dirty="0">
                <a:ea typeface="Calibri" panose="020F0502020204030204" pitchFamily="34" charset="0"/>
                <a:cs typeface="Times New Roman" panose="02020603050405020304" pitchFamily="18" charset="0"/>
              </a:rPr>
              <a:t>subplot(2,2,4), plot(</a:t>
            </a:r>
            <a:r>
              <a:rPr lang="en-US" sz="2000" dirty="0" err="1">
                <a:ea typeface="Calibri" panose="020F0502020204030204" pitchFamily="34" charset="0"/>
                <a:cs typeface="Times New Roman" panose="02020603050405020304" pitchFamily="18" charset="0"/>
              </a:rPr>
              <a:t>x,v</a:t>
            </a:r>
            <a:r>
              <a:rPr lang="en-US" sz="2000" dirty="0">
                <a:ea typeface="Calibri" panose="020F0502020204030204" pitchFamily="34" charset="0"/>
                <a:cs typeface="Times New Roman" panose="02020603050405020304" pitchFamily="18" charset="0"/>
              </a:rPr>
              <a:t>)</a:t>
            </a:r>
            <a:endParaRPr lang="es-AR" sz="2000" dirty="0">
              <a:ea typeface="Calibri" panose="020F0502020204030204" pitchFamily="34" charset="0"/>
              <a:cs typeface="Times New Roman" panose="02020603050405020304" pitchFamily="18" charset="0"/>
            </a:endParaRPr>
          </a:p>
        </p:txBody>
      </p:sp>
      <p:pic>
        <p:nvPicPr>
          <p:cNvPr id="6" name="Imagen 5"/>
          <p:cNvPicPr>
            <a:picLocks noChangeAspect="1"/>
          </p:cNvPicPr>
          <p:nvPr/>
        </p:nvPicPr>
        <p:blipFill rotWithShape="1">
          <a:blip r:embed="rId2">
            <a:extLst>
              <a:ext uri="{28A0092B-C50C-407E-A947-70E740481C1C}">
                <a14:useLocalDpi xmlns:a14="http://schemas.microsoft.com/office/drawing/2010/main" val="0"/>
              </a:ext>
            </a:extLst>
          </a:blip>
          <a:srcRect l="7223" t="5233" r="6705" b="6560"/>
          <a:stretch/>
        </p:blipFill>
        <p:spPr>
          <a:xfrm>
            <a:off x="5541820" y="1320801"/>
            <a:ext cx="5245826" cy="4032000"/>
          </a:xfrm>
          <a:prstGeom prst="rect">
            <a:avLst/>
          </a:prstGeom>
        </p:spPr>
      </p:pic>
      <p:sp>
        <p:nvSpPr>
          <p:cNvPr id="7" name="Rectángulo 6"/>
          <p:cNvSpPr/>
          <p:nvPr/>
        </p:nvSpPr>
        <p:spPr>
          <a:xfrm>
            <a:off x="230909" y="5546764"/>
            <a:ext cx="11296072" cy="1047979"/>
          </a:xfrm>
          <a:prstGeom prst="rect">
            <a:avLst/>
          </a:prstGeom>
        </p:spPr>
        <p:txBody>
          <a:bodyPr wrap="square">
            <a:spAutoFit/>
          </a:bodyPr>
          <a:lstStyle/>
          <a:p>
            <a:pPr>
              <a:lnSpc>
                <a:spcPct val="115000"/>
              </a:lnSpc>
              <a:spcAft>
                <a:spcPts val="0"/>
              </a:spcAft>
            </a:pPr>
            <a:r>
              <a:rPr lang="es-ES_tradnl" dirty="0">
                <a:latin typeface="Calibri" panose="020F0502020204030204" pitchFamily="34" charset="0"/>
                <a:ea typeface="Calibri" panose="020F0502020204030204" pitchFamily="34" charset="0"/>
                <a:cs typeface="TimesNewRomanPSMT"/>
              </a:rPr>
              <a:t>Existen otras funciones gráficas bidimensionales orientadas a generar otro tipo de gráficos distintos de los que produce la función </a:t>
            </a:r>
            <a:r>
              <a:rPr lang="es-ES_tradnl" b="1" i="1" dirty="0" err="1">
                <a:latin typeface="Calibri" panose="020F0502020204030204" pitchFamily="34" charset="0"/>
                <a:ea typeface="Calibri" panose="020F0502020204030204" pitchFamily="34" charset="0"/>
                <a:cs typeface="Times New Roman" panose="02020603050405020304" pitchFamily="18" charset="0"/>
              </a:rPr>
              <a:t>plot</a:t>
            </a:r>
            <a:r>
              <a:rPr lang="es-ES_tradnl" b="1" i="1" dirty="0">
                <a:latin typeface="Calibri" panose="020F0502020204030204" pitchFamily="34" charset="0"/>
                <a:ea typeface="Calibri" panose="020F0502020204030204" pitchFamily="34" charset="0"/>
                <a:cs typeface="Times New Roman" panose="02020603050405020304" pitchFamily="18" charset="0"/>
              </a:rPr>
              <a:t>() </a:t>
            </a:r>
            <a:r>
              <a:rPr lang="es-ES_tradnl" dirty="0">
                <a:latin typeface="Calibri" panose="020F0502020204030204" pitchFamily="34" charset="0"/>
                <a:ea typeface="Calibri" panose="020F0502020204030204" pitchFamily="34" charset="0"/>
                <a:cs typeface="TimesNewRomanPSMT"/>
              </a:rPr>
              <a:t>y sus análogas. Algunas de estas funciones son las siguientes (para más información sobre cada una de ellas en particular, utilizar </a:t>
            </a:r>
            <a:r>
              <a:rPr lang="es-ES_tradnl" b="1" i="1" dirty="0" err="1">
                <a:latin typeface="Calibri" panose="020F0502020204030204" pitchFamily="34" charset="0"/>
                <a:ea typeface="Calibri" panose="020F0502020204030204" pitchFamily="34" charset="0"/>
                <a:cs typeface="Times New Roman" panose="02020603050405020304" pitchFamily="18" charset="0"/>
              </a:rPr>
              <a:t>help</a:t>
            </a:r>
            <a:r>
              <a:rPr lang="es-ES_tradnl" b="1" i="1" dirty="0">
                <a:latin typeface="Calibri" panose="020F0502020204030204" pitchFamily="34" charset="0"/>
                <a:ea typeface="Calibri" panose="020F0502020204030204" pitchFamily="34" charset="0"/>
                <a:cs typeface="Times New Roman" panose="02020603050405020304" pitchFamily="18" charset="0"/>
              </a:rPr>
              <a:t> </a:t>
            </a:r>
            <a:r>
              <a:rPr lang="es-ES_tradnl" b="1" i="1" dirty="0" err="1">
                <a:latin typeface="Calibri" panose="020F0502020204030204" pitchFamily="34" charset="0"/>
                <a:ea typeface="Calibri" panose="020F0502020204030204" pitchFamily="34" charset="0"/>
                <a:cs typeface="Times New Roman" panose="02020603050405020304" pitchFamily="18" charset="0"/>
              </a:rPr>
              <a:t>nombre_función</a:t>
            </a:r>
            <a:r>
              <a:rPr lang="es-ES_tradnl" dirty="0">
                <a:latin typeface="Calibri" panose="020F0502020204030204" pitchFamily="34" charset="0"/>
                <a:ea typeface="Calibri" panose="020F0502020204030204" pitchFamily="34" charset="0"/>
                <a:cs typeface="TimesNewRomanPSMT"/>
              </a:rPr>
              <a:t>):</a:t>
            </a:r>
            <a:endParaRPr lang="es-AR"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3612298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12145819" cy="4870564"/>
          </a:xfrm>
          <a:prstGeom prst="rect">
            <a:avLst/>
          </a:prstGeom>
        </p:spPr>
        <p:txBody>
          <a:bodyPr wrap="square">
            <a:spAutoFit/>
          </a:bodyPr>
          <a:lstStyle/>
          <a:p>
            <a:pPr>
              <a:lnSpc>
                <a:spcPct val="115000"/>
              </a:lnSpc>
              <a:spcAft>
                <a:spcPts val="0"/>
              </a:spcAft>
            </a:pPr>
            <a:r>
              <a:rPr lang="es-ES_tradnl" dirty="0">
                <a:latin typeface="Calibri" panose="020F0502020204030204" pitchFamily="34" charset="0"/>
                <a:ea typeface="Calibri" panose="020F0502020204030204" pitchFamily="34" charset="0"/>
                <a:cs typeface="TimesNewRomanPSMT"/>
              </a:rPr>
              <a:t> </a:t>
            </a:r>
            <a:r>
              <a:rPr lang="es-ES_tradnl" dirty="0">
                <a:highlight>
                  <a:srgbClr val="FFFF00"/>
                </a:highlight>
                <a:latin typeface="Calibri" panose="020F0502020204030204" pitchFamily="34" charset="0"/>
                <a:ea typeface="Calibri" panose="020F0502020204030204" pitchFamily="34" charset="0"/>
                <a:cs typeface="TimesNewRomanPSMT"/>
              </a:rPr>
              <a:t>bar()</a:t>
            </a:r>
            <a:r>
              <a:rPr lang="es-ES_tradnl" dirty="0">
                <a:latin typeface="Calibri" panose="020F0502020204030204" pitchFamily="34" charset="0"/>
                <a:ea typeface="Calibri" panose="020F0502020204030204" pitchFamily="34" charset="0"/>
                <a:cs typeface="TimesNewRomanPSMT"/>
              </a:rPr>
              <a:t> crea diagramas de barras</a:t>
            </a:r>
            <a:endParaRPr lang="es-AR"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s-ES_tradnl" dirty="0" err="1">
                <a:highlight>
                  <a:srgbClr val="FFFF00"/>
                </a:highlight>
                <a:latin typeface="Calibri" panose="020F0502020204030204" pitchFamily="34" charset="0"/>
                <a:ea typeface="Calibri" panose="020F0502020204030204" pitchFamily="34" charset="0"/>
                <a:cs typeface="TimesNewRomanPSMT"/>
              </a:rPr>
              <a:t>barh</a:t>
            </a:r>
            <a:r>
              <a:rPr lang="es-ES_tradnl" dirty="0">
                <a:highlight>
                  <a:srgbClr val="FFFF00"/>
                </a:highlight>
                <a:latin typeface="Calibri" panose="020F0502020204030204" pitchFamily="34" charset="0"/>
                <a:ea typeface="Calibri" panose="020F0502020204030204" pitchFamily="34" charset="0"/>
                <a:cs typeface="TimesNewRomanPSMT"/>
              </a:rPr>
              <a:t>()</a:t>
            </a:r>
            <a:r>
              <a:rPr lang="es-ES_tradnl" dirty="0">
                <a:latin typeface="Calibri" panose="020F0502020204030204" pitchFamily="34" charset="0"/>
                <a:ea typeface="Calibri" panose="020F0502020204030204" pitchFamily="34" charset="0"/>
                <a:cs typeface="TimesNewRomanPSMT"/>
              </a:rPr>
              <a:t> diagramas de barras horizontales</a:t>
            </a:r>
            <a:endParaRPr lang="es-AR"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s-ES_tradnl" dirty="0">
                <a:highlight>
                  <a:srgbClr val="FFFF00"/>
                </a:highlight>
                <a:latin typeface="Calibri" panose="020F0502020204030204" pitchFamily="34" charset="0"/>
                <a:ea typeface="Calibri" panose="020F0502020204030204" pitchFamily="34" charset="0"/>
                <a:cs typeface="TimesNewRomanPSMT"/>
              </a:rPr>
              <a:t>bar3()</a:t>
            </a:r>
            <a:r>
              <a:rPr lang="es-ES_tradnl" dirty="0">
                <a:latin typeface="Calibri" panose="020F0502020204030204" pitchFamily="34" charset="0"/>
                <a:ea typeface="Calibri" panose="020F0502020204030204" pitchFamily="34" charset="0"/>
                <a:cs typeface="TimesNewRomanPSMT"/>
              </a:rPr>
              <a:t> diagramas de barras con aspecto 3-D</a:t>
            </a:r>
            <a:endParaRPr lang="es-AR"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s-ES_tradnl" dirty="0">
                <a:highlight>
                  <a:srgbClr val="FFFF00"/>
                </a:highlight>
                <a:latin typeface="Calibri" panose="020F0502020204030204" pitchFamily="34" charset="0"/>
                <a:ea typeface="Calibri" panose="020F0502020204030204" pitchFamily="34" charset="0"/>
                <a:cs typeface="TimesNewRomanPSMT"/>
              </a:rPr>
              <a:t>bar3h()</a:t>
            </a:r>
            <a:r>
              <a:rPr lang="es-ES_tradnl" dirty="0">
                <a:latin typeface="Calibri" panose="020F0502020204030204" pitchFamily="34" charset="0"/>
                <a:ea typeface="Calibri" panose="020F0502020204030204" pitchFamily="34" charset="0"/>
                <a:cs typeface="TimesNewRomanPSMT"/>
              </a:rPr>
              <a:t> diagramas de barras horizontales con aspecto 3-D</a:t>
            </a:r>
            <a:endParaRPr lang="es-AR"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s-ES_tradnl" dirty="0">
                <a:highlight>
                  <a:srgbClr val="FFFF00"/>
                </a:highlight>
                <a:latin typeface="Calibri" panose="020F0502020204030204" pitchFamily="34" charset="0"/>
                <a:ea typeface="Calibri" panose="020F0502020204030204" pitchFamily="34" charset="0"/>
                <a:cs typeface="TimesNewRomanPSMT"/>
              </a:rPr>
              <a:t>pie()</a:t>
            </a:r>
            <a:r>
              <a:rPr lang="es-ES_tradnl" dirty="0">
                <a:latin typeface="Calibri" panose="020F0502020204030204" pitchFamily="34" charset="0"/>
                <a:ea typeface="Calibri" panose="020F0502020204030204" pitchFamily="34" charset="0"/>
                <a:cs typeface="TimesNewRomanPSMT"/>
              </a:rPr>
              <a:t> gráficos con forma de “tarta”</a:t>
            </a:r>
            <a:endParaRPr lang="es-AR"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s-ES_tradnl" dirty="0">
                <a:highlight>
                  <a:srgbClr val="FFFF00"/>
                </a:highlight>
                <a:latin typeface="Calibri" panose="020F0502020204030204" pitchFamily="34" charset="0"/>
                <a:ea typeface="Calibri" panose="020F0502020204030204" pitchFamily="34" charset="0"/>
                <a:cs typeface="TimesNewRomanPSMT"/>
              </a:rPr>
              <a:t>pie3()</a:t>
            </a:r>
            <a:r>
              <a:rPr lang="es-ES_tradnl" dirty="0">
                <a:latin typeface="Calibri" panose="020F0502020204030204" pitchFamily="34" charset="0"/>
                <a:ea typeface="Calibri" panose="020F0502020204030204" pitchFamily="34" charset="0"/>
                <a:cs typeface="TimesNewRomanPSMT"/>
              </a:rPr>
              <a:t> gráficos con forma de “tarta” y aspecto 3-D</a:t>
            </a:r>
            <a:endParaRPr lang="es-AR"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s-ES_tradnl" dirty="0" err="1">
                <a:highlight>
                  <a:srgbClr val="FFFF00"/>
                </a:highlight>
                <a:latin typeface="Calibri" panose="020F0502020204030204" pitchFamily="34" charset="0"/>
                <a:ea typeface="Calibri" panose="020F0502020204030204" pitchFamily="34" charset="0"/>
                <a:cs typeface="TimesNewRomanPSMT"/>
              </a:rPr>
              <a:t>area</a:t>
            </a:r>
            <a:r>
              <a:rPr lang="es-ES_tradnl" dirty="0">
                <a:highlight>
                  <a:srgbClr val="FFFF00"/>
                </a:highlight>
                <a:latin typeface="Calibri" panose="020F0502020204030204" pitchFamily="34" charset="0"/>
                <a:ea typeface="Calibri" panose="020F0502020204030204" pitchFamily="34" charset="0"/>
                <a:cs typeface="TimesNewRomanPSMT"/>
              </a:rPr>
              <a:t>()</a:t>
            </a:r>
            <a:r>
              <a:rPr lang="es-ES_tradnl" dirty="0">
                <a:latin typeface="Calibri" panose="020F0502020204030204" pitchFamily="34" charset="0"/>
                <a:ea typeface="Calibri" panose="020F0502020204030204" pitchFamily="34" charset="0"/>
                <a:cs typeface="TimesNewRomanPSMT"/>
              </a:rPr>
              <a:t> similar </a:t>
            </a:r>
            <a:r>
              <a:rPr lang="es-ES_tradnl" b="1" i="1" dirty="0" err="1">
                <a:latin typeface="Calibri" panose="020F0502020204030204" pitchFamily="34" charset="0"/>
                <a:ea typeface="Calibri" panose="020F0502020204030204" pitchFamily="34" charset="0"/>
                <a:cs typeface="Times New Roman" panose="02020603050405020304" pitchFamily="18" charset="0"/>
              </a:rPr>
              <a:t>plot</a:t>
            </a:r>
            <a:r>
              <a:rPr lang="es-ES_tradnl" b="1" i="1" dirty="0">
                <a:latin typeface="Calibri" panose="020F0502020204030204" pitchFamily="34" charset="0"/>
                <a:ea typeface="Calibri" panose="020F0502020204030204" pitchFamily="34" charset="0"/>
                <a:cs typeface="Times New Roman" panose="02020603050405020304" pitchFamily="18" charset="0"/>
              </a:rPr>
              <a:t>()</a:t>
            </a:r>
            <a:r>
              <a:rPr lang="es-ES_tradnl" dirty="0">
                <a:latin typeface="Calibri" panose="020F0502020204030204" pitchFamily="34" charset="0"/>
                <a:ea typeface="Calibri" panose="020F0502020204030204" pitchFamily="34" charset="0"/>
                <a:cs typeface="TimesNewRomanPSMT"/>
              </a:rPr>
              <a:t>, pero rellenando en ordenadas de 0 a y</a:t>
            </a:r>
            <a:endParaRPr lang="es-AR"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s-ES_tradnl" dirty="0" err="1">
                <a:highlight>
                  <a:srgbClr val="FFFF00"/>
                </a:highlight>
                <a:latin typeface="Calibri" panose="020F0502020204030204" pitchFamily="34" charset="0"/>
                <a:ea typeface="Calibri" panose="020F0502020204030204" pitchFamily="34" charset="0"/>
                <a:cs typeface="TimesNewRomanPSMT"/>
              </a:rPr>
              <a:t>stairs</a:t>
            </a:r>
            <a:r>
              <a:rPr lang="es-ES_tradnl" dirty="0">
                <a:highlight>
                  <a:srgbClr val="FFFF00"/>
                </a:highlight>
                <a:latin typeface="Calibri" panose="020F0502020204030204" pitchFamily="34" charset="0"/>
                <a:ea typeface="Calibri" panose="020F0502020204030204" pitchFamily="34" charset="0"/>
                <a:cs typeface="TimesNewRomanPSMT"/>
              </a:rPr>
              <a:t>()</a:t>
            </a:r>
            <a:r>
              <a:rPr lang="es-ES_tradnl" dirty="0">
                <a:latin typeface="Calibri" panose="020F0502020204030204" pitchFamily="34" charset="0"/>
                <a:ea typeface="Calibri" panose="020F0502020204030204" pitchFamily="34" charset="0"/>
                <a:cs typeface="TimesNewRomanPSMT"/>
              </a:rPr>
              <a:t> función análoga a </a:t>
            </a:r>
            <a:r>
              <a:rPr lang="es-ES_tradnl" b="1" i="1" dirty="0">
                <a:latin typeface="Calibri" panose="020F0502020204030204" pitchFamily="34" charset="0"/>
                <a:ea typeface="Calibri" panose="020F0502020204030204" pitchFamily="34" charset="0"/>
                <a:cs typeface="Times New Roman" panose="02020603050405020304" pitchFamily="18" charset="0"/>
              </a:rPr>
              <a:t>bar() </a:t>
            </a:r>
            <a:r>
              <a:rPr lang="es-ES_tradnl" dirty="0">
                <a:latin typeface="Calibri" panose="020F0502020204030204" pitchFamily="34" charset="0"/>
                <a:ea typeface="Calibri" panose="020F0502020204030204" pitchFamily="34" charset="0"/>
                <a:cs typeface="TimesNewRomanPSMT"/>
              </a:rPr>
              <a:t>sin líneas internas</a:t>
            </a:r>
            <a:endParaRPr lang="es-AR"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s-ES_tradnl" dirty="0" err="1">
                <a:highlight>
                  <a:srgbClr val="FFFF00"/>
                </a:highlight>
                <a:latin typeface="Calibri" panose="020F0502020204030204" pitchFamily="34" charset="0"/>
                <a:ea typeface="Calibri" panose="020F0502020204030204" pitchFamily="34" charset="0"/>
                <a:cs typeface="TimesNewRomanPSMT"/>
              </a:rPr>
              <a:t>errorbar</a:t>
            </a:r>
            <a:r>
              <a:rPr lang="es-ES_tradnl" dirty="0">
                <a:highlight>
                  <a:srgbClr val="FFFF00"/>
                </a:highlight>
                <a:latin typeface="Calibri" panose="020F0502020204030204" pitchFamily="34" charset="0"/>
                <a:ea typeface="Calibri" panose="020F0502020204030204" pitchFamily="34" charset="0"/>
                <a:cs typeface="TimesNewRomanPSMT"/>
              </a:rPr>
              <a:t>()</a:t>
            </a:r>
            <a:r>
              <a:rPr lang="es-ES_tradnl" dirty="0">
                <a:latin typeface="Calibri" panose="020F0502020204030204" pitchFamily="34" charset="0"/>
                <a:ea typeface="Calibri" panose="020F0502020204030204" pitchFamily="34" charset="0"/>
                <a:cs typeface="TimesNewRomanPSMT"/>
              </a:rPr>
              <a:t> representa sobre una gráfica –mediante barras– valores de errores</a:t>
            </a:r>
            <a:endParaRPr lang="es-AR"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s-ES_tradnl" dirty="0" err="1">
                <a:highlight>
                  <a:srgbClr val="FFFF00"/>
                </a:highlight>
                <a:latin typeface="Calibri" panose="020F0502020204030204" pitchFamily="34" charset="0"/>
                <a:ea typeface="Calibri" panose="020F0502020204030204" pitchFamily="34" charset="0"/>
                <a:cs typeface="TimesNewRomanPSMT"/>
              </a:rPr>
              <a:t>compass</a:t>
            </a:r>
            <a:r>
              <a:rPr lang="es-ES_tradnl" dirty="0">
                <a:highlight>
                  <a:srgbClr val="FFFF00"/>
                </a:highlight>
                <a:latin typeface="Calibri" panose="020F0502020204030204" pitchFamily="34" charset="0"/>
                <a:ea typeface="Calibri" panose="020F0502020204030204" pitchFamily="34" charset="0"/>
                <a:cs typeface="TimesNewRomanPSMT"/>
              </a:rPr>
              <a:t>()</a:t>
            </a:r>
            <a:r>
              <a:rPr lang="es-ES_tradnl" dirty="0">
                <a:latin typeface="Calibri" panose="020F0502020204030204" pitchFamily="34" charset="0"/>
                <a:ea typeface="Calibri" panose="020F0502020204030204" pitchFamily="34" charset="0"/>
                <a:cs typeface="TimesNewRomanPSMT"/>
              </a:rPr>
              <a:t> dibuja los elementos de un vector complejo como un conjunto de vectores partiendo de un origen común</a:t>
            </a:r>
            <a:endParaRPr lang="es-AR"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s-ES_tradnl" dirty="0" err="1">
                <a:highlight>
                  <a:srgbClr val="FFFF00"/>
                </a:highlight>
                <a:latin typeface="Calibri" panose="020F0502020204030204" pitchFamily="34" charset="0"/>
                <a:ea typeface="Calibri" panose="020F0502020204030204" pitchFamily="34" charset="0"/>
                <a:cs typeface="TimesNewRomanPSMT"/>
              </a:rPr>
              <a:t>feather</a:t>
            </a:r>
            <a:r>
              <a:rPr lang="es-ES_tradnl" dirty="0">
                <a:highlight>
                  <a:srgbClr val="FFFF00"/>
                </a:highlight>
                <a:latin typeface="Calibri" panose="020F0502020204030204" pitchFamily="34" charset="0"/>
                <a:ea typeface="Calibri" panose="020F0502020204030204" pitchFamily="34" charset="0"/>
                <a:cs typeface="TimesNewRomanPSMT"/>
              </a:rPr>
              <a:t>()</a:t>
            </a:r>
            <a:r>
              <a:rPr lang="es-ES_tradnl" dirty="0">
                <a:latin typeface="Calibri" panose="020F0502020204030204" pitchFamily="34" charset="0"/>
                <a:ea typeface="Calibri" panose="020F0502020204030204" pitchFamily="34" charset="0"/>
                <a:cs typeface="TimesNewRomanPSMT"/>
              </a:rPr>
              <a:t> dibuja los elementos de un vector complejo como un conjunto de vectores partiendo</a:t>
            </a:r>
            <a:endParaRPr lang="es-AR"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s-ES_tradnl" dirty="0">
                <a:latin typeface="Calibri" panose="020F0502020204030204" pitchFamily="34" charset="0"/>
                <a:ea typeface="Calibri" panose="020F0502020204030204" pitchFamily="34" charset="0"/>
                <a:cs typeface="TimesNewRomanPSMT"/>
              </a:rPr>
              <a:t>de orígenes uniformemente espaciados sobre el eje de abscisas</a:t>
            </a:r>
            <a:endParaRPr lang="es-AR"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s-ES_tradnl" dirty="0" err="1">
                <a:highlight>
                  <a:srgbClr val="FFFF00"/>
                </a:highlight>
                <a:latin typeface="Calibri" panose="020F0502020204030204" pitchFamily="34" charset="0"/>
                <a:ea typeface="Calibri" panose="020F0502020204030204" pitchFamily="34" charset="0"/>
                <a:cs typeface="TimesNewRomanPSMT"/>
              </a:rPr>
              <a:t>hist</a:t>
            </a:r>
            <a:r>
              <a:rPr lang="es-ES_tradnl" dirty="0">
                <a:highlight>
                  <a:srgbClr val="FFFF00"/>
                </a:highlight>
                <a:latin typeface="Calibri" panose="020F0502020204030204" pitchFamily="34" charset="0"/>
                <a:ea typeface="Calibri" panose="020F0502020204030204" pitchFamily="34" charset="0"/>
                <a:cs typeface="TimesNewRomanPSMT"/>
              </a:rPr>
              <a:t>()</a:t>
            </a:r>
            <a:r>
              <a:rPr lang="es-ES_tradnl" dirty="0">
                <a:latin typeface="Calibri" panose="020F0502020204030204" pitchFamily="34" charset="0"/>
                <a:ea typeface="Calibri" panose="020F0502020204030204" pitchFamily="34" charset="0"/>
                <a:cs typeface="TimesNewRomanPSMT"/>
              </a:rPr>
              <a:t> dibuja histogramas de un vector</a:t>
            </a:r>
            <a:endParaRPr lang="es-AR"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s-ES_tradnl" dirty="0">
                <a:highlight>
                  <a:srgbClr val="FFFF00"/>
                </a:highlight>
                <a:latin typeface="Calibri" panose="020F0502020204030204" pitchFamily="34" charset="0"/>
                <a:ea typeface="Calibri" panose="020F0502020204030204" pitchFamily="34" charset="0"/>
                <a:cs typeface="TimesNewRomanPSMT"/>
              </a:rPr>
              <a:t>rose()</a:t>
            </a:r>
            <a:r>
              <a:rPr lang="es-ES_tradnl" dirty="0">
                <a:latin typeface="Calibri" panose="020F0502020204030204" pitchFamily="34" charset="0"/>
                <a:ea typeface="Calibri" panose="020F0502020204030204" pitchFamily="34" charset="0"/>
                <a:cs typeface="TimesNewRomanPSMT"/>
              </a:rPr>
              <a:t> histograma de ángulos (en radianes)</a:t>
            </a:r>
            <a:endParaRPr lang="es-AR"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s-ES_tradnl" dirty="0" err="1">
                <a:highlight>
                  <a:srgbClr val="FFFF00"/>
                </a:highlight>
                <a:latin typeface="Calibri" panose="020F0502020204030204" pitchFamily="34" charset="0"/>
                <a:ea typeface="Calibri" panose="020F0502020204030204" pitchFamily="34" charset="0"/>
                <a:cs typeface="TimesNewRomanPSMT"/>
              </a:rPr>
              <a:t>quiver</a:t>
            </a:r>
            <a:r>
              <a:rPr lang="es-ES_tradnl" dirty="0">
                <a:highlight>
                  <a:srgbClr val="FFFF00"/>
                </a:highlight>
                <a:latin typeface="Calibri" panose="020F0502020204030204" pitchFamily="34" charset="0"/>
                <a:ea typeface="Calibri" panose="020F0502020204030204" pitchFamily="34" charset="0"/>
                <a:cs typeface="TimesNewRomanPSMT"/>
              </a:rPr>
              <a:t>()</a:t>
            </a:r>
            <a:r>
              <a:rPr lang="es-ES_tradnl" dirty="0">
                <a:latin typeface="Calibri" panose="020F0502020204030204" pitchFamily="34" charset="0"/>
                <a:ea typeface="Calibri" panose="020F0502020204030204" pitchFamily="34" charset="0"/>
                <a:cs typeface="TimesNewRomanPSMT"/>
              </a:rPr>
              <a:t> dibujo de campos vectoriales como conjunto de vectores</a:t>
            </a:r>
            <a:endParaRPr lang="es-AR" dirty="0">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ángulo 5"/>
          <p:cNvSpPr/>
          <p:nvPr/>
        </p:nvSpPr>
        <p:spPr>
          <a:xfrm>
            <a:off x="7213600" y="4870564"/>
            <a:ext cx="2881745" cy="646331"/>
          </a:xfrm>
          <a:prstGeom prst="rect">
            <a:avLst/>
          </a:prstGeom>
        </p:spPr>
        <p:txBody>
          <a:bodyPr wrap="square">
            <a:spAutoFit/>
          </a:bodyPr>
          <a:lstStyle/>
          <a:p>
            <a:r>
              <a:rPr lang="es-AR" dirty="0"/>
              <a:t>x=[1 2 3 4];</a:t>
            </a:r>
          </a:p>
          <a:p>
            <a:r>
              <a:rPr lang="es-AR" dirty="0"/>
              <a:t>pie(x)</a:t>
            </a:r>
          </a:p>
        </p:txBody>
      </p:sp>
      <p:pic>
        <p:nvPicPr>
          <p:cNvPr id="3075" name="Imagen 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03804" y="4149619"/>
            <a:ext cx="2635250" cy="241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268436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73891" y="0"/>
            <a:ext cx="12312073" cy="2003625"/>
          </a:xfrm>
          <a:prstGeom prst="rect">
            <a:avLst/>
          </a:prstGeom>
        </p:spPr>
        <p:txBody>
          <a:bodyPr wrap="square">
            <a:spAutoFit/>
          </a:bodyPr>
          <a:lstStyle/>
          <a:p>
            <a:pPr>
              <a:lnSpc>
                <a:spcPct val="115000"/>
              </a:lnSpc>
              <a:spcAft>
                <a:spcPts val="0"/>
              </a:spcAft>
            </a:pPr>
            <a:r>
              <a:rPr lang="es-ES_tradnl" dirty="0">
                <a:latin typeface="Calibri" panose="020F0502020204030204" pitchFamily="34" charset="0"/>
                <a:ea typeface="Calibri" panose="020F0502020204030204" pitchFamily="34" charset="0"/>
                <a:cs typeface="TimesNewRomanPSMT"/>
              </a:rPr>
              <a:t>MATLAB tiene posibilidades de realizar varios tipos de gráficos 3D. Para darse una idea de ello, lo mejor es verlo en la pantalla cuanto antes, aunque haya que dejar las explicaciones detalladas para un poco más adelante.</a:t>
            </a:r>
            <a:endParaRPr lang="es-AR"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s-ES_tradnl" dirty="0">
                <a:latin typeface="Calibri" panose="020F0502020204030204" pitchFamily="34" charset="0"/>
                <a:ea typeface="Calibri" panose="020F0502020204030204" pitchFamily="34" charset="0"/>
                <a:cs typeface="TimesNewRomanPSMT"/>
              </a:rPr>
              <a:t>La primera forma de gráfico 3D es la función </a:t>
            </a:r>
            <a:r>
              <a:rPr lang="es-ES_tradnl" b="1" i="1" dirty="0">
                <a:highlight>
                  <a:srgbClr val="FFFF00"/>
                </a:highlight>
                <a:latin typeface="Calibri" panose="020F0502020204030204" pitchFamily="34" charset="0"/>
                <a:ea typeface="Calibri" panose="020F0502020204030204" pitchFamily="34" charset="0"/>
                <a:cs typeface="Times New Roman" panose="02020603050405020304" pitchFamily="18" charset="0"/>
              </a:rPr>
              <a:t>plot3</a:t>
            </a:r>
            <a:r>
              <a:rPr lang="es-ES_tradnl" dirty="0">
                <a:latin typeface="Calibri" panose="020F0502020204030204" pitchFamily="34" charset="0"/>
                <a:ea typeface="Calibri" panose="020F0502020204030204" pitchFamily="34" charset="0"/>
                <a:cs typeface="TimesNewRomanPSMT"/>
              </a:rPr>
              <a:t>, que es el análogo tridimensional de la función </a:t>
            </a:r>
            <a:r>
              <a:rPr lang="es-ES_tradnl" b="1" i="1" dirty="0" err="1">
                <a:latin typeface="Calibri" panose="020F0502020204030204" pitchFamily="34" charset="0"/>
                <a:ea typeface="Calibri" panose="020F0502020204030204" pitchFamily="34" charset="0"/>
                <a:cs typeface="Times New Roman" panose="02020603050405020304" pitchFamily="18" charset="0"/>
              </a:rPr>
              <a:t>plot</a:t>
            </a:r>
            <a:r>
              <a:rPr lang="es-ES_tradnl" dirty="0">
                <a:latin typeface="Calibri" panose="020F0502020204030204" pitchFamily="34" charset="0"/>
                <a:ea typeface="Calibri" panose="020F0502020204030204" pitchFamily="34" charset="0"/>
                <a:cs typeface="TimesNewRomanPSMT"/>
              </a:rPr>
              <a:t>. Esta función dibuja puntos cuyas coordenadas están contenidas en 3 vectores, bien uniéndolos mediante una línea continua (defecto), bien mediante </a:t>
            </a:r>
            <a:r>
              <a:rPr lang="es-ES_tradnl" b="1" i="1" dirty="0" err="1">
                <a:latin typeface="Calibri" panose="020F0502020204030204" pitchFamily="34" charset="0"/>
                <a:ea typeface="Calibri" panose="020F0502020204030204" pitchFamily="34" charset="0"/>
                <a:cs typeface="Times New Roman" panose="02020603050405020304" pitchFamily="18" charset="0"/>
              </a:rPr>
              <a:t>markers</a:t>
            </a:r>
            <a:r>
              <a:rPr lang="es-ES_tradnl" dirty="0">
                <a:latin typeface="Calibri" panose="020F0502020204030204" pitchFamily="34" charset="0"/>
                <a:ea typeface="Calibri" panose="020F0502020204030204" pitchFamily="34" charset="0"/>
                <a:cs typeface="TimesNewRomanPSMT"/>
              </a:rPr>
              <a:t>. Asegúrese de que no hay ninguna ventana gráfica abierta y ejecute el siguiente comando que dibuja una línea espiral en color rojo:</a:t>
            </a:r>
            <a:endParaRPr lang="es-AR" dirty="0">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ángulo 4"/>
          <p:cNvSpPr/>
          <p:nvPr/>
        </p:nvSpPr>
        <p:spPr>
          <a:xfrm>
            <a:off x="1246909" y="1514097"/>
            <a:ext cx="6096000" cy="707886"/>
          </a:xfrm>
          <a:prstGeom prst="rect">
            <a:avLst/>
          </a:prstGeom>
        </p:spPr>
        <p:txBody>
          <a:bodyPr>
            <a:spAutoFit/>
          </a:bodyPr>
          <a:lstStyle/>
          <a:p>
            <a:r>
              <a:rPr lang="es-ES_tradnl" sz="2000" dirty="0">
                <a:ea typeface="Calibri" panose="020F0502020204030204" pitchFamily="34" charset="0"/>
              </a:rPr>
              <a:t>fi=[0:pi/20:6*pi]; </a:t>
            </a:r>
          </a:p>
          <a:p>
            <a:r>
              <a:rPr lang="es-ES_tradnl" sz="2000" dirty="0">
                <a:ea typeface="Calibri" panose="020F0502020204030204" pitchFamily="34" charset="0"/>
              </a:rPr>
              <a:t>plot3(</a:t>
            </a:r>
            <a:r>
              <a:rPr lang="es-ES_tradnl" sz="2000" dirty="0" err="1">
                <a:ea typeface="Calibri" panose="020F0502020204030204" pitchFamily="34" charset="0"/>
              </a:rPr>
              <a:t>cos</a:t>
            </a:r>
            <a:r>
              <a:rPr lang="es-ES_tradnl" sz="2000" dirty="0">
                <a:ea typeface="Calibri" panose="020F0502020204030204" pitchFamily="34" charset="0"/>
              </a:rPr>
              <a:t>(fi),sin(fi),</a:t>
            </a:r>
            <a:r>
              <a:rPr lang="es-ES_tradnl" sz="2000" dirty="0" err="1">
                <a:ea typeface="Calibri" panose="020F0502020204030204" pitchFamily="34" charset="0"/>
              </a:rPr>
              <a:t>fi,'r</a:t>
            </a:r>
            <a:r>
              <a:rPr lang="es-ES_tradnl" sz="2000" dirty="0">
                <a:ea typeface="Calibri" panose="020F0502020204030204" pitchFamily="34" charset="0"/>
              </a:rPr>
              <a:t>'), </a:t>
            </a:r>
            <a:r>
              <a:rPr lang="es-ES_tradnl" sz="2000" dirty="0" err="1">
                <a:ea typeface="Calibri" panose="020F0502020204030204" pitchFamily="34" charset="0"/>
              </a:rPr>
              <a:t>grid</a:t>
            </a:r>
            <a:endParaRPr lang="es-AR" sz="2000" dirty="0"/>
          </a:p>
        </p:txBody>
      </p:sp>
      <p:pic>
        <p:nvPicPr>
          <p:cNvPr id="6" name="Imagen 5"/>
          <p:cNvPicPr>
            <a:picLocks noChangeAspect="1"/>
          </p:cNvPicPr>
          <p:nvPr/>
        </p:nvPicPr>
        <p:blipFill rotWithShape="1">
          <a:blip r:embed="rId2">
            <a:extLst>
              <a:ext uri="{28A0092B-C50C-407E-A947-70E740481C1C}">
                <a14:useLocalDpi xmlns:a14="http://schemas.microsoft.com/office/drawing/2010/main" val="0"/>
              </a:ext>
            </a:extLst>
          </a:blip>
          <a:srcRect l="8264" t="6762" r="5319" b="4800"/>
          <a:stretch/>
        </p:blipFill>
        <p:spPr>
          <a:xfrm>
            <a:off x="138546" y="2392218"/>
            <a:ext cx="4608945" cy="3537528"/>
          </a:xfrm>
          <a:prstGeom prst="rect">
            <a:avLst/>
          </a:prstGeom>
        </p:spPr>
      </p:pic>
      <p:sp>
        <p:nvSpPr>
          <p:cNvPr id="7" name="Rectángulo 6"/>
          <p:cNvSpPr/>
          <p:nvPr/>
        </p:nvSpPr>
        <p:spPr>
          <a:xfrm>
            <a:off x="5273964" y="1645671"/>
            <a:ext cx="6511635" cy="1892826"/>
          </a:xfrm>
          <a:prstGeom prst="rect">
            <a:avLst/>
          </a:prstGeom>
        </p:spPr>
        <p:txBody>
          <a:bodyPr wrap="square">
            <a:spAutoFit/>
          </a:bodyPr>
          <a:lstStyle/>
          <a:p>
            <a:pPr>
              <a:lnSpc>
                <a:spcPct val="115000"/>
              </a:lnSpc>
              <a:spcAft>
                <a:spcPts val="1000"/>
              </a:spcAft>
            </a:pPr>
            <a:r>
              <a:rPr lang="pl-PL" sz="2000" dirty="0">
                <a:ea typeface="Calibri" panose="020F0502020204030204" pitchFamily="34" charset="0"/>
                <a:cs typeface="Times New Roman" panose="02020603050405020304" pitchFamily="18" charset="0"/>
              </a:rPr>
              <a:t>u=-2:0.05:2; v=u;</a:t>
            </a:r>
          </a:p>
          <a:p>
            <a:pPr>
              <a:lnSpc>
                <a:spcPct val="115000"/>
              </a:lnSpc>
              <a:spcAft>
                <a:spcPts val="1000"/>
              </a:spcAft>
            </a:pPr>
            <a:r>
              <a:rPr lang="pl-PL" sz="2000" dirty="0">
                <a:ea typeface="Calibri" panose="020F0502020204030204" pitchFamily="34" charset="0"/>
                <a:cs typeface="Times New Roman" panose="02020603050405020304" pitchFamily="18" charset="0"/>
              </a:rPr>
              <a:t>[U,V]=meshgrid(u,v);</a:t>
            </a:r>
            <a:r>
              <a:rPr lang="es-AR" sz="2000" dirty="0">
                <a:ea typeface="Calibri" panose="020F0502020204030204" pitchFamily="34" charset="0"/>
                <a:cs typeface="Times New Roman" panose="02020603050405020304" pitchFamily="18" charset="0"/>
              </a:rPr>
              <a:t> </a:t>
            </a:r>
          </a:p>
          <a:p>
            <a:pPr>
              <a:lnSpc>
                <a:spcPct val="115000"/>
              </a:lnSpc>
              <a:spcAft>
                <a:spcPts val="1000"/>
              </a:spcAft>
            </a:pPr>
            <a:r>
              <a:rPr lang="pl-PL" sz="2000" dirty="0">
                <a:ea typeface="Calibri" panose="020F0502020204030204" pitchFamily="34" charset="0"/>
                <a:cs typeface="Times New Roman" panose="02020603050405020304" pitchFamily="18" charset="0"/>
              </a:rPr>
              <a:t>z=@(x,y)x.^2-y.^2;</a:t>
            </a:r>
          </a:p>
          <a:p>
            <a:pPr>
              <a:lnSpc>
                <a:spcPct val="115000"/>
              </a:lnSpc>
              <a:spcAft>
                <a:spcPts val="1000"/>
              </a:spcAft>
            </a:pPr>
            <a:r>
              <a:rPr lang="pl-PL" sz="2000" dirty="0">
                <a:ea typeface="Calibri" panose="020F0502020204030204" pitchFamily="34" charset="0"/>
                <a:cs typeface="Times New Roman" panose="02020603050405020304" pitchFamily="18" charset="0"/>
              </a:rPr>
              <a:t>plot3(U,V,z(U,V))</a:t>
            </a:r>
            <a:endParaRPr lang="es-AR" sz="2000" dirty="0"/>
          </a:p>
        </p:txBody>
      </p:sp>
      <p:pic>
        <p:nvPicPr>
          <p:cNvPr id="8" name="Imagen 7"/>
          <p:cNvPicPr>
            <a:picLocks noChangeAspect="1"/>
          </p:cNvPicPr>
          <p:nvPr/>
        </p:nvPicPr>
        <p:blipFill rotWithShape="1">
          <a:blip r:embed="rId3">
            <a:extLst>
              <a:ext uri="{28A0092B-C50C-407E-A947-70E740481C1C}">
                <a14:useLocalDpi xmlns:a14="http://schemas.microsoft.com/office/drawing/2010/main" val="0"/>
              </a:ext>
            </a:extLst>
          </a:blip>
          <a:srcRect l="8437" t="15999" r="5146"/>
          <a:stretch/>
        </p:blipFill>
        <p:spPr>
          <a:xfrm>
            <a:off x="7490692" y="3279588"/>
            <a:ext cx="4608946" cy="3360054"/>
          </a:xfrm>
          <a:prstGeom prst="rect">
            <a:avLst/>
          </a:prstGeom>
        </p:spPr>
      </p:pic>
      <p:sp>
        <p:nvSpPr>
          <p:cNvPr id="11" name="Rectangle 3"/>
          <p:cNvSpPr>
            <a:spLocks noChangeArrowheads="1"/>
          </p:cNvSpPr>
          <p:nvPr/>
        </p:nvSpPr>
        <p:spPr bwMode="auto">
          <a:xfrm>
            <a:off x="138546" y="66733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AR" altLang="es-AR" sz="1800" b="0" i="0" u="none" strike="noStrike" cap="none" normalizeH="0" baseline="0" dirty="0">
              <a:ln>
                <a:noFill/>
              </a:ln>
              <a:solidFill>
                <a:schemeClr val="tx1"/>
              </a:solidFill>
              <a:effectLst/>
              <a:latin typeface="Arial" panose="020B0604020202020204" pitchFamily="34" charset="0"/>
            </a:endParaRPr>
          </a:p>
        </p:txBody>
      </p:sp>
      <p:sp>
        <p:nvSpPr>
          <p:cNvPr id="12" name="Rectángulo 11"/>
          <p:cNvSpPr/>
          <p:nvPr/>
        </p:nvSpPr>
        <p:spPr>
          <a:xfrm>
            <a:off x="5199143" y="4719938"/>
            <a:ext cx="2339102" cy="928459"/>
          </a:xfrm>
          <a:prstGeom prst="rect">
            <a:avLst/>
          </a:prstGeom>
        </p:spPr>
        <p:txBody>
          <a:bodyPr wrap="none">
            <a:spAutoFit/>
          </a:bodyPr>
          <a:lstStyle/>
          <a:p>
            <a:pPr>
              <a:lnSpc>
                <a:spcPct val="115000"/>
              </a:lnSpc>
              <a:spcAft>
                <a:spcPts val="1000"/>
              </a:spcAft>
            </a:pPr>
            <a:r>
              <a:rPr lang="es-ES_tradnl" sz="2000" b="1" dirty="0">
                <a:latin typeface="Courier New" panose="02070309020205020404" pitchFamily="49" charset="0"/>
                <a:ea typeface="Calibri" panose="020F0502020204030204" pitchFamily="34" charset="0"/>
                <a:cs typeface="Times New Roman" panose="02020603050405020304" pitchFamily="18" charset="0"/>
              </a:rPr>
              <a:t>Se puede usar:</a:t>
            </a:r>
          </a:p>
          <a:p>
            <a:pPr>
              <a:lnSpc>
                <a:spcPct val="115000"/>
              </a:lnSpc>
              <a:spcAft>
                <a:spcPts val="1000"/>
              </a:spcAft>
            </a:pPr>
            <a:r>
              <a:rPr lang="es-ES_tradnl" sz="2000" b="1" dirty="0">
                <a:latin typeface="Courier New" panose="02070309020205020404" pitchFamily="49" charset="0"/>
                <a:ea typeface="Calibri" panose="020F0502020204030204" pitchFamily="34" charset="0"/>
                <a:cs typeface="Times New Roman" panose="02020603050405020304" pitchFamily="18" charset="0"/>
              </a:rPr>
              <a:t>surf(z(U,V))</a:t>
            </a:r>
            <a:endParaRPr lang="es-AR" sz="2000" b="1" dirty="0">
              <a:latin typeface="Calibri" panose="020F0502020204030204" pitchFamily="34" charset="0"/>
              <a:ea typeface="Calibri" panose="020F0502020204030204" pitchFamily="34" charset="0"/>
              <a:cs typeface="Times New Roman" panose="02020603050405020304" pitchFamily="18" charset="0"/>
            </a:endParaRPr>
          </a:p>
        </p:txBody>
      </p:sp>
      <p:sp>
        <p:nvSpPr>
          <p:cNvPr id="2" name="Rectángulo 1"/>
          <p:cNvSpPr/>
          <p:nvPr/>
        </p:nvSpPr>
        <p:spPr>
          <a:xfrm>
            <a:off x="8635670" y="2022886"/>
            <a:ext cx="2492798" cy="369332"/>
          </a:xfrm>
          <a:prstGeom prst="rect">
            <a:avLst/>
          </a:prstGeom>
        </p:spPr>
        <p:txBody>
          <a:bodyPr wrap="none">
            <a:spAutoFit/>
          </a:bodyPr>
          <a:lstStyle/>
          <a:p>
            <a:r>
              <a:rPr lang="es-ES_tradnl" dirty="0">
                <a:latin typeface="Calibri" panose="020F0502020204030204" pitchFamily="34" charset="0"/>
                <a:ea typeface="Calibri" panose="020F0502020204030204" pitchFamily="34" charset="0"/>
                <a:cs typeface="TimesNewRomanPSMT"/>
              </a:rPr>
              <a:t>Función de dos variables</a:t>
            </a:r>
            <a:endParaRPr lang="es-AR" dirty="0"/>
          </a:p>
        </p:txBody>
      </p:sp>
    </p:spTree>
    <p:extLst>
      <p:ext uri="{BB962C8B-B14F-4D97-AF65-F5344CB8AC3E}">
        <p14:creationId xmlns:p14="http://schemas.microsoft.com/office/powerpoint/2010/main" val="16631144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73892" y="385357"/>
            <a:ext cx="6096000" cy="3139321"/>
          </a:xfrm>
          <a:prstGeom prst="rect">
            <a:avLst/>
          </a:prstGeom>
        </p:spPr>
        <p:txBody>
          <a:bodyPr>
            <a:spAutoFit/>
          </a:bodyPr>
          <a:lstStyle/>
          <a:p>
            <a:r>
              <a:rPr lang="es-AR" b="1" dirty="0" err="1"/>
              <a:t>max</a:t>
            </a:r>
            <a:r>
              <a:rPr lang="es-AR" dirty="0"/>
              <a:t> máximum</a:t>
            </a:r>
          </a:p>
          <a:p>
            <a:r>
              <a:rPr lang="es-AR" b="1" dirty="0"/>
              <a:t>min </a:t>
            </a:r>
            <a:r>
              <a:rPr lang="es-AR" dirty="0" err="1"/>
              <a:t>minimum</a:t>
            </a:r>
            <a:r>
              <a:rPr lang="es-AR" dirty="0"/>
              <a:t> </a:t>
            </a:r>
          </a:p>
          <a:p>
            <a:r>
              <a:rPr lang="es-AR" b="1" dirty="0" err="1"/>
              <a:t>find</a:t>
            </a:r>
            <a:r>
              <a:rPr lang="es-AR" dirty="0"/>
              <a:t> </a:t>
            </a:r>
            <a:r>
              <a:rPr lang="es-AR" dirty="0" err="1"/>
              <a:t>find</a:t>
            </a:r>
            <a:r>
              <a:rPr lang="es-AR" dirty="0"/>
              <a:t> </a:t>
            </a:r>
            <a:r>
              <a:rPr lang="es-AR" dirty="0" err="1"/>
              <a:t>indices</a:t>
            </a:r>
            <a:r>
              <a:rPr lang="es-AR" dirty="0"/>
              <a:t> of </a:t>
            </a:r>
            <a:r>
              <a:rPr lang="es-AR" dirty="0" err="1"/>
              <a:t>nonzero</a:t>
            </a:r>
            <a:r>
              <a:rPr lang="es-AR" dirty="0"/>
              <a:t> </a:t>
            </a:r>
            <a:r>
              <a:rPr lang="es-AR" dirty="0" err="1"/>
              <a:t>elements</a:t>
            </a:r>
            <a:r>
              <a:rPr lang="es-AR" dirty="0"/>
              <a:t> </a:t>
            </a:r>
          </a:p>
          <a:p>
            <a:r>
              <a:rPr lang="es-AR" b="1" dirty="0"/>
              <a:t>mean</a:t>
            </a:r>
            <a:r>
              <a:rPr lang="es-AR" dirty="0"/>
              <a:t> </a:t>
            </a:r>
            <a:r>
              <a:rPr lang="es-AR" dirty="0" err="1"/>
              <a:t>average</a:t>
            </a:r>
            <a:r>
              <a:rPr lang="es-AR" dirty="0"/>
              <a:t> </a:t>
            </a:r>
            <a:r>
              <a:rPr lang="es-AR" dirty="0" err="1"/>
              <a:t>or</a:t>
            </a:r>
            <a:r>
              <a:rPr lang="es-AR" dirty="0"/>
              <a:t> mean </a:t>
            </a:r>
          </a:p>
          <a:p>
            <a:r>
              <a:rPr lang="es-AR" b="1" dirty="0"/>
              <a:t>median</a:t>
            </a:r>
            <a:r>
              <a:rPr lang="es-AR" dirty="0"/>
              <a:t> </a:t>
            </a:r>
            <a:r>
              <a:rPr lang="es-AR" dirty="0" err="1"/>
              <a:t>median</a:t>
            </a:r>
            <a:r>
              <a:rPr lang="es-AR" dirty="0"/>
              <a:t> </a:t>
            </a:r>
          </a:p>
          <a:p>
            <a:r>
              <a:rPr lang="es-AR" b="1" dirty="0" err="1"/>
              <a:t>std</a:t>
            </a:r>
            <a:r>
              <a:rPr lang="es-AR" dirty="0"/>
              <a:t> standard </a:t>
            </a:r>
            <a:r>
              <a:rPr lang="es-AR" dirty="0" err="1"/>
              <a:t>deviation</a:t>
            </a:r>
            <a:r>
              <a:rPr lang="es-AR" dirty="0"/>
              <a:t> </a:t>
            </a:r>
          </a:p>
          <a:p>
            <a:r>
              <a:rPr lang="es-AR" b="1" dirty="0" err="1"/>
              <a:t>sort</a:t>
            </a:r>
            <a:r>
              <a:rPr lang="es-AR" dirty="0"/>
              <a:t> </a:t>
            </a:r>
            <a:r>
              <a:rPr lang="es-AR" dirty="0" err="1"/>
              <a:t>sort</a:t>
            </a:r>
            <a:r>
              <a:rPr lang="es-AR" dirty="0"/>
              <a:t> in </a:t>
            </a:r>
            <a:r>
              <a:rPr lang="es-AR" dirty="0" err="1"/>
              <a:t>ascending</a:t>
            </a:r>
            <a:r>
              <a:rPr lang="es-AR" dirty="0"/>
              <a:t> </a:t>
            </a:r>
            <a:r>
              <a:rPr lang="es-AR" dirty="0" err="1"/>
              <a:t>order</a:t>
            </a:r>
            <a:r>
              <a:rPr lang="es-AR" dirty="0"/>
              <a:t> </a:t>
            </a:r>
          </a:p>
          <a:p>
            <a:r>
              <a:rPr lang="es-AR" b="1" dirty="0" err="1"/>
              <a:t>sortrows</a:t>
            </a:r>
            <a:r>
              <a:rPr lang="es-AR" dirty="0"/>
              <a:t> </a:t>
            </a:r>
            <a:r>
              <a:rPr lang="es-AR" dirty="0" err="1"/>
              <a:t>sort</a:t>
            </a:r>
            <a:r>
              <a:rPr lang="es-AR" dirty="0"/>
              <a:t> </a:t>
            </a:r>
            <a:r>
              <a:rPr lang="es-AR" dirty="0" err="1"/>
              <a:t>rows</a:t>
            </a:r>
            <a:r>
              <a:rPr lang="es-AR" dirty="0"/>
              <a:t> in </a:t>
            </a:r>
            <a:r>
              <a:rPr lang="es-AR" dirty="0" err="1"/>
              <a:t>ascending</a:t>
            </a:r>
            <a:r>
              <a:rPr lang="es-AR" dirty="0"/>
              <a:t> </a:t>
            </a:r>
            <a:r>
              <a:rPr lang="es-AR" dirty="0" err="1"/>
              <a:t>order</a:t>
            </a:r>
            <a:r>
              <a:rPr lang="es-AR" dirty="0"/>
              <a:t> </a:t>
            </a:r>
          </a:p>
          <a:p>
            <a:r>
              <a:rPr lang="es-AR" b="1" dirty="0"/>
              <a:t>sum</a:t>
            </a:r>
            <a:r>
              <a:rPr lang="es-AR" dirty="0"/>
              <a:t> </a:t>
            </a:r>
            <a:r>
              <a:rPr lang="es-AR" dirty="0" err="1"/>
              <a:t>sum</a:t>
            </a:r>
            <a:r>
              <a:rPr lang="es-AR" dirty="0"/>
              <a:t> of </a:t>
            </a:r>
            <a:r>
              <a:rPr lang="es-AR" dirty="0" err="1"/>
              <a:t>elements</a:t>
            </a:r>
            <a:r>
              <a:rPr lang="es-AR" dirty="0"/>
              <a:t> </a:t>
            </a:r>
          </a:p>
          <a:p>
            <a:r>
              <a:rPr lang="es-AR" b="1" dirty="0" err="1"/>
              <a:t>prod</a:t>
            </a:r>
            <a:r>
              <a:rPr lang="es-AR" dirty="0"/>
              <a:t> </a:t>
            </a:r>
            <a:r>
              <a:rPr lang="es-AR" dirty="0" err="1"/>
              <a:t>product</a:t>
            </a:r>
            <a:r>
              <a:rPr lang="es-AR" dirty="0"/>
              <a:t> of </a:t>
            </a:r>
            <a:r>
              <a:rPr lang="es-AR" dirty="0" err="1"/>
              <a:t>elements</a:t>
            </a:r>
            <a:r>
              <a:rPr lang="es-AR" dirty="0"/>
              <a:t> </a:t>
            </a:r>
          </a:p>
          <a:p>
            <a:r>
              <a:rPr lang="es-AR" b="1" dirty="0" err="1"/>
              <a:t>diff</a:t>
            </a:r>
            <a:r>
              <a:rPr lang="es-AR" dirty="0"/>
              <a:t> </a:t>
            </a:r>
            <a:r>
              <a:rPr lang="es-AR" dirty="0" err="1"/>
              <a:t>difference</a:t>
            </a:r>
            <a:r>
              <a:rPr lang="es-AR" dirty="0"/>
              <a:t> </a:t>
            </a:r>
            <a:r>
              <a:rPr lang="es-AR" dirty="0" err="1"/>
              <a:t>between</a:t>
            </a:r>
            <a:r>
              <a:rPr lang="es-AR" dirty="0"/>
              <a:t> </a:t>
            </a:r>
            <a:r>
              <a:rPr lang="es-AR" dirty="0" err="1"/>
              <a:t>elements</a:t>
            </a:r>
            <a:endParaRPr lang="es-AR" dirty="0"/>
          </a:p>
        </p:txBody>
      </p:sp>
      <p:sp>
        <p:nvSpPr>
          <p:cNvPr id="5" name="CuadroTexto 4"/>
          <p:cNvSpPr txBox="1"/>
          <p:nvPr/>
        </p:nvSpPr>
        <p:spPr>
          <a:xfrm>
            <a:off x="73892" y="0"/>
            <a:ext cx="6770254" cy="461665"/>
          </a:xfrm>
          <a:prstGeom prst="rect">
            <a:avLst/>
          </a:prstGeom>
          <a:noFill/>
        </p:spPr>
        <p:txBody>
          <a:bodyPr wrap="square" rtlCol="0">
            <a:spAutoFit/>
          </a:bodyPr>
          <a:lstStyle/>
          <a:p>
            <a:r>
              <a:rPr lang="es-AR" sz="2400" b="1" dirty="0"/>
              <a:t>Algunas funciones para análisis de datos</a:t>
            </a:r>
          </a:p>
        </p:txBody>
      </p:sp>
      <p:sp>
        <p:nvSpPr>
          <p:cNvPr id="6" name="Rectángulo 5"/>
          <p:cNvSpPr/>
          <p:nvPr/>
        </p:nvSpPr>
        <p:spPr>
          <a:xfrm>
            <a:off x="5333279" y="527691"/>
            <a:ext cx="6794066" cy="2585323"/>
          </a:xfrm>
          <a:prstGeom prst="rect">
            <a:avLst/>
          </a:prstGeom>
        </p:spPr>
        <p:txBody>
          <a:bodyPr wrap="square">
            <a:spAutoFit/>
          </a:bodyPr>
          <a:lstStyle/>
          <a:p>
            <a:r>
              <a:rPr lang="es-AR" dirty="0"/>
              <a:t>&lt; menor que </a:t>
            </a:r>
          </a:p>
          <a:p>
            <a:r>
              <a:rPr lang="es-AR" dirty="0"/>
              <a:t>&lt;= menor o igual que </a:t>
            </a:r>
          </a:p>
          <a:p>
            <a:r>
              <a:rPr lang="es-AR" dirty="0"/>
              <a:t>&gt;mayor que </a:t>
            </a:r>
          </a:p>
          <a:p>
            <a:r>
              <a:rPr lang="es-AR" dirty="0"/>
              <a:t>&gt;= mayor o igual que </a:t>
            </a:r>
          </a:p>
          <a:p>
            <a:r>
              <a:rPr lang="es-AR" dirty="0"/>
              <a:t>== igual a</a:t>
            </a:r>
          </a:p>
          <a:p>
            <a:r>
              <a:rPr lang="es-AR" dirty="0"/>
              <a:t> ~= distinto</a:t>
            </a:r>
          </a:p>
          <a:p>
            <a:r>
              <a:rPr lang="es-AR" dirty="0"/>
              <a:t>&amp; y </a:t>
            </a:r>
          </a:p>
          <a:p>
            <a:r>
              <a:rPr lang="es-AR" dirty="0"/>
              <a:t>| o</a:t>
            </a:r>
          </a:p>
          <a:p>
            <a:r>
              <a:rPr lang="es-AR" dirty="0"/>
              <a:t> ~ no  </a:t>
            </a:r>
          </a:p>
        </p:txBody>
      </p:sp>
      <p:sp>
        <p:nvSpPr>
          <p:cNvPr id="7" name="Rectángulo 6"/>
          <p:cNvSpPr/>
          <p:nvPr/>
        </p:nvSpPr>
        <p:spPr>
          <a:xfrm>
            <a:off x="6169892" y="108235"/>
            <a:ext cx="5337551" cy="461665"/>
          </a:xfrm>
          <a:prstGeom prst="rect">
            <a:avLst/>
          </a:prstGeom>
        </p:spPr>
        <p:txBody>
          <a:bodyPr wrap="none">
            <a:spAutoFit/>
          </a:bodyPr>
          <a:lstStyle/>
          <a:p>
            <a:r>
              <a:rPr lang="es-AR" sz="2400" b="1" dirty="0"/>
              <a:t>Algunas operaciones y relaciones lógicas</a:t>
            </a:r>
          </a:p>
        </p:txBody>
      </p:sp>
      <p:sp>
        <p:nvSpPr>
          <p:cNvPr id="8" name="Rectángulo 7"/>
          <p:cNvSpPr/>
          <p:nvPr/>
        </p:nvSpPr>
        <p:spPr>
          <a:xfrm>
            <a:off x="0" y="3617134"/>
            <a:ext cx="1753942" cy="369332"/>
          </a:xfrm>
          <a:prstGeom prst="rect">
            <a:avLst/>
          </a:prstGeom>
        </p:spPr>
        <p:txBody>
          <a:bodyPr wrap="none">
            <a:spAutoFit/>
          </a:bodyPr>
          <a:lstStyle/>
          <a:p>
            <a:r>
              <a:rPr lang="es-AR" b="1" dirty="0"/>
              <a:t>SENTENCIA FOR </a:t>
            </a:r>
          </a:p>
        </p:txBody>
      </p:sp>
      <p:sp>
        <p:nvSpPr>
          <p:cNvPr id="9" name="Rectángulo 8"/>
          <p:cNvSpPr/>
          <p:nvPr/>
        </p:nvSpPr>
        <p:spPr>
          <a:xfrm>
            <a:off x="78511" y="4177253"/>
            <a:ext cx="3043381" cy="1477328"/>
          </a:xfrm>
          <a:prstGeom prst="rect">
            <a:avLst/>
          </a:prstGeom>
        </p:spPr>
        <p:txBody>
          <a:bodyPr wrap="square">
            <a:spAutoFit/>
          </a:bodyPr>
          <a:lstStyle/>
          <a:p>
            <a:r>
              <a:rPr lang="es-AR" dirty="0"/>
              <a:t> </a:t>
            </a:r>
            <a:r>
              <a:rPr lang="es-AR" dirty="0" err="1"/>
              <a:t>for</a:t>
            </a:r>
            <a:r>
              <a:rPr lang="es-AR" dirty="0"/>
              <a:t> variable = expresión      </a:t>
            </a:r>
          </a:p>
          <a:p>
            <a:r>
              <a:rPr lang="es-AR" dirty="0"/>
              <a:t>	 &lt;orden&gt;      </a:t>
            </a:r>
          </a:p>
          <a:p>
            <a:r>
              <a:rPr lang="es-AR" dirty="0"/>
              <a:t>	 &lt;orden&gt;            …    </a:t>
            </a:r>
          </a:p>
          <a:p>
            <a:r>
              <a:rPr lang="es-AR" dirty="0"/>
              <a:t> 	 &lt;orden&gt;      	</a:t>
            </a:r>
          </a:p>
          <a:p>
            <a:r>
              <a:rPr lang="es-AR" dirty="0" err="1"/>
              <a:t>end</a:t>
            </a:r>
            <a:endParaRPr lang="es-AR" dirty="0"/>
          </a:p>
        </p:txBody>
      </p:sp>
      <p:sp>
        <p:nvSpPr>
          <p:cNvPr id="10" name="Rectángulo 9"/>
          <p:cNvSpPr/>
          <p:nvPr/>
        </p:nvSpPr>
        <p:spPr>
          <a:xfrm>
            <a:off x="3121892" y="4177253"/>
            <a:ext cx="4793672" cy="1477328"/>
          </a:xfrm>
          <a:prstGeom prst="rect">
            <a:avLst/>
          </a:prstGeom>
        </p:spPr>
        <p:txBody>
          <a:bodyPr wrap="square">
            <a:spAutoFit/>
          </a:bodyPr>
          <a:lstStyle/>
          <a:p>
            <a:r>
              <a:rPr lang="es-AR" dirty="0" err="1"/>
              <a:t>for</a:t>
            </a:r>
            <a:r>
              <a:rPr lang="es-AR" dirty="0"/>
              <a:t> x = 1:5 </a:t>
            </a:r>
          </a:p>
          <a:p>
            <a:r>
              <a:rPr lang="es-AR" dirty="0" err="1"/>
              <a:t>disp</a:t>
            </a:r>
            <a:r>
              <a:rPr lang="es-AR" dirty="0"/>
              <a:t> ('x toma el valor</a:t>
            </a:r>
            <a:r>
              <a:rPr lang="es-AR" dirty="0">
                <a:solidFill>
                  <a:schemeClr val="accent1"/>
                </a:solidFill>
              </a:rPr>
              <a:t>') % escribe por pantalla el texto que se indica entre las comillas </a:t>
            </a:r>
          </a:p>
          <a:p>
            <a:r>
              <a:rPr lang="es-AR" dirty="0" err="1"/>
              <a:t>disp</a:t>
            </a:r>
            <a:r>
              <a:rPr lang="es-AR" dirty="0"/>
              <a:t> (x) </a:t>
            </a:r>
            <a:r>
              <a:rPr lang="es-AR" dirty="0">
                <a:solidFill>
                  <a:schemeClr val="accent1"/>
                </a:solidFill>
              </a:rPr>
              <a:t>% escribe el valor de la variable x</a:t>
            </a:r>
          </a:p>
          <a:p>
            <a:r>
              <a:rPr lang="es-AR" dirty="0" err="1"/>
              <a:t>end</a:t>
            </a:r>
            <a:endParaRPr lang="es-AR" dirty="0"/>
          </a:p>
        </p:txBody>
      </p:sp>
      <p:sp>
        <p:nvSpPr>
          <p:cNvPr id="11" name="Rectángulo 10"/>
          <p:cNvSpPr/>
          <p:nvPr/>
        </p:nvSpPr>
        <p:spPr>
          <a:xfrm>
            <a:off x="8062279" y="3801800"/>
            <a:ext cx="3445164" cy="2585323"/>
          </a:xfrm>
          <a:prstGeom prst="rect">
            <a:avLst/>
          </a:prstGeom>
        </p:spPr>
        <p:txBody>
          <a:bodyPr wrap="square">
            <a:spAutoFit/>
          </a:bodyPr>
          <a:lstStyle/>
          <a:p>
            <a:r>
              <a:rPr lang="es-AR" dirty="0"/>
              <a:t>x toma el valor </a:t>
            </a:r>
          </a:p>
          <a:p>
            <a:r>
              <a:rPr lang="es-AR" dirty="0"/>
              <a:t>1</a:t>
            </a:r>
          </a:p>
          <a:p>
            <a:r>
              <a:rPr lang="es-AR" dirty="0"/>
              <a:t> x toma el valor      </a:t>
            </a:r>
          </a:p>
          <a:p>
            <a:r>
              <a:rPr lang="es-AR" dirty="0"/>
              <a:t>2</a:t>
            </a:r>
          </a:p>
          <a:p>
            <a:r>
              <a:rPr lang="es-AR" dirty="0"/>
              <a:t>x toma el valor      </a:t>
            </a:r>
          </a:p>
          <a:p>
            <a:r>
              <a:rPr lang="es-AR" dirty="0"/>
              <a:t>3 </a:t>
            </a:r>
          </a:p>
          <a:p>
            <a:r>
              <a:rPr lang="es-AR" dirty="0"/>
              <a:t>x toma el valor      </a:t>
            </a:r>
          </a:p>
          <a:p>
            <a:r>
              <a:rPr lang="es-AR" dirty="0"/>
              <a:t>4 </a:t>
            </a:r>
          </a:p>
          <a:p>
            <a:r>
              <a:rPr lang="es-AR" dirty="0"/>
              <a:t>x toma el valor      5 </a:t>
            </a:r>
          </a:p>
        </p:txBody>
      </p:sp>
    </p:spTree>
    <p:extLst>
      <p:ext uri="{BB962C8B-B14F-4D97-AF65-F5344CB8AC3E}">
        <p14:creationId xmlns:p14="http://schemas.microsoft.com/office/powerpoint/2010/main" val="4386877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92364" y="0"/>
            <a:ext cx="12007272" cy="646331"/>
          </a:xfrm>
          <a:prstGeom prst="rect">
            <a:avLst/>
          </a:prstGeom>
        </p:spPr>
        <p:txBody>
          <a:bodyPr wrap="square">
            <a:spAutoFit/>
          </a:bodyPr>
          <a:lstStyle/>
          <a:p>
            <a:r>
              <a:rPr lang="es-AR" b="1" dirty="0"/>
              <a:t>SENTENCIA WHILE </a:t>
            </a:r>
          </a:p>
          <a:p>
            <a:r>
              <a:rPr lang="es-AR" dirty="0"/>
              <a:t> Un bloque </a:t>
            </a:r>
            <a:r>
              <a:rPr lang="es-AR" dirty="0" err="1"/>
              <a:t>while</a:t>
            </a:r>
            <a:r>
              <a:rPr lang="es-AR" dirty="0"/>
              <a:t> ejecuta las órdenes mientras todos los elementos de la expresión sean verdaderos.</a:t>
            </a:r>
          </a:p>
        </p:txBody>
      </p:sp>
      <p:sp>
        <p:nvSpPr>
          <p:cNvPr id="5" name="Rectángulo 4"/>
          <p:cNvSpPr/>
          <p:nvPr/>
        </p:nvSpPr>
        <p:spPr>
          <a:xfrm>
            <a:off x="92364" y="664589"/>
            <a:ext cx="2281381" cy="1754326"/>
          </a:xfrm>
          <a:prstGeom prst="rect">
            <a:avLst/>
          </a:prstGeom>
        </p:spPr>
        <p:txBody>
          <a:bodyPr wrap="square">
            <a:spAutoFit/>
          </a:bodyPr>
          <a:lstStyle/>
          <a:p>
            <a:r>
              <a:rPr lang="es-AR" dirty="0"/>
              <a:t> </a:t>
            </a:r>
            <a:r>
              <a:rPr lang="es-AR" dirty="0" err="1"/>
              <a:t>while</a:t>
            </a:r>
            <a:r>
              <a:rPr lang="es-AR" dirty="0"/>
              <a:t> &lt;expresión&gt;       </a:t>
            </a:r>
          </a:p>
          <a:p>
            <a:r>
              <a:rPr lang="es-AR" dirty="0"/>
              <a:t>&lt;orden&gt;      </a:t>
            </a:r>
          </a:p>
          <a:p>
            <a:r>
              <a:rPr lang="es-AR" dirty="0"/>
              <a:t> &lt;orden&gt;            </a:t>
            </a:r>
          </a:p>
          <a:p>
            <a:r>
              <a:rPr lang="es-AR" dirty="0"/>
              <a:t>…    </a:t>
            </a:r>
          </a:p>
          <a:p>
            <a:r>
              <a:rPr lang="es-AR" dirty="0"/>
              <a:t>  &lt;orden&gt;      </a:t>
            </a:r>
          </a:p>
          <a:p>
            <a:r>
              <a:rPr lang="es-AR" dirty="0" err="1"/>
              <a:t>end</a:t>
            </a:r>
            <a:endParaRPr lang="es-AR" dirty="0"/>
          </a:p>
        </p:txBody>
      </p:sp>
      <p:sp>
        <p:nvSpPr>
          <p:cNvPr id="6" name="Rectángulo 5"/>
          <p:cNvSpPr/>
          <p:nvPr/>
        </p:nvSpPr>
        <p:spPr>
          <a:xfrm>
            <a:off x="2216727" y="646331"/>
            <a:ext cx="4137891" cy="1938992"/>
          </a:xfrm>
          <a:prstGeom prst="rect">
            <a:avLst/>
          </a:prstGeom>
        </p:spPr>
        <p:txBody>
          <a:bodyPr wrap="square">
            <a:spAutoFit/>
          </a:bodyPr>
          <a:lstStyle/>
          <a:p>
            <a:r>
              <a:rPr lang="es-AR" sz="2000" dirty="0"/>
              <a:t>a=3;</a:t>
            </a:r>
          </a:p>
          <a:p>
            <a:r>
              <a:rPr lang="es-AR" sz="2000" dirty="0" err="1"/>
              <a:t>while</a:t>
            </a:r>
            <a:r>
              <a:rPr lang="es-AR" sz="2000" dirty="0"/>
              <a:t> a &lt; 5</a:t>
            </a:r>
          </a:p>
          <a:p>
            <a:r>
              <a:rPr lang="es-AR" sz="2000" dirty="0" err="1"/>
              <a:t>disp</a:t>
            </a:r>
            <a:r>
              <a:rPr lang="es-AR" sz="2000" dirty="0"/>
              <a:t> ('a es menor que 5 ya que vale')</a:t>
            </a:r>
          </a:p>
          <a:p>
            <a:r>
              <a:rPr lang="es-AR" sz="2000" dirty="0" err="1"/>
              <a:t>disp</a:t>
            </a:r>
            <a:r>
              <a:rPr lang="es-AR" sz="2000" dirty="0"/>
              <a:t> (a);</a:t>
            </a:r>
          </a:p>
          <a:p>
            <a:r>
              <a:rPr lang="es-AR" sz="2000" dirty="0"/>
              <a:t>a = a + 1;</a:t>
            </a:r>
          </a:p>
          <a:p>
            <a:r>
              <a:rPr lang="es-AR" sz="2000" dirty="0" err="1"/>
              <a:t>end</a:t>
            </a:r>
            <a:endParaRPr lang="es-AR" sz="2000" dirty="0"/>
          </a:p>
        </p:txBody>
      </p:sp>
      <p:sp>
        <p:nvSpPr>
          <p:cNvPr id="7" name="Rectángulo 6"/>
          <p:cNvSpPr/>
          <p:nvPr/>
        </p:nvSpPr>
        <p:spPr>
          <a:xfrm>
            <a:off x="6354618" y="877163"/>
            <a:ext cx="6096000" cy="1477328"/>
          </a:xfrm>
          <a:prstGeom prst="rect">
            <a:avLst/>
          </a:prstGeom>
        </p:spPr>
        <p:txBody>
          <a:bodyPr>
            <a:spAutoFit/>
          </a:bodyPr>
          <a:lstStyle/>
          <a:p>
            <a:r>
              <a:rPr lang="es-AR" dirty="0"/>
              <a:t>a es menor que 5 ya que vale</a:t>
            </a:r>
          </a:p>
          <a:p>
            <a:r>
              <a:rPr lang="es-AR" dirty="0"/>
              <a:t>     3</a:t>
            </a:r>
          </a:p>
          <a:p>
            <a:endParaRPr lang="es-AR" dirty="0"/>
          </a:p>
          <a:p>
            <a:r>
              <a:rPr lang="es-AR" dirty="0"/>
              <a:t>a es menor que 5 ya que vale</a:t>
            </a:r>
          </a:p>
          <a:p>
            <a:r>
              <a:rPr lang="es-AR" dirty="0"/>
              <a:t>     4</a:t>
            </a:r>
          </a:p>
        </p:txBody>
      </p:sp>
      <p:sp>
        <p:nvSpPr>
          <p:cNvPr id="8" name="Rectángulo 7"/>
          <p:cNvSpPr/>
          <p:nvPr/>
        </p:nvSpPr>
        <p:spPr>
          <a:xfrm>
            <a:off x="0" y="2585323"/>
            <a:ext cx="1478290" cy="369332"/>
          </a:xfrm>
          <a:prstGeom prst="rect">
            <a:avLst/>
          </a:prstGeom>
        </p:spPr>
        <p:txBody>
          <a:bodyPr wrap="none">
            <a:spAutoFit/>
          </a:bodyPr>
          <a:lstStyle/>
          <a:p>
            <a:r>
              <a:rPr lang="es-AR" b="1" dirty="0"/>
              <a:t>SENTENCIA IF</a:t>
            </a:r>
          </a:p>
        </p:txBody>
      </p:sp>
      <p:sp>
        <p:nvSpPr>
          <p:cNvPr id="9" name="Rectángulo 8"/>
          <p:cNvSpPr/>
          <p:nvPr/>
        </p:nvSpPr>
        <p:spPr>
          <a:xfrm>
            <a:off x="0" y="2954655"/>
            <a:ext cx="4876800" cy="923330"/>
          </a:xfrm>
          <a:prstGeom prst="rect">
            <a:avLst/>
          </a:prstGeom>
        </p:spPr>
        <p:txBody>
          <a:bodyPr wrap="square">
            <a:spAutoFit/>
          </a:bodyPr>
          <a:lstStyle/>
          <a:p>
            <a:r>
              <a:rPr lang="es-AR" dirty="0" err="1"/>
              <a:t>if</a:t>
            </a:r>
            <a:r>
              <a:rPr lang="es-AR" dirty="0"/>
              <a:t> &lt;expresión&gt;     </a:t>
            </a:r>
          </a:p>
          <a:p>
            <a:r>
              <a:rPr lang="es-AR" dirty="0"/>
              <a:t> &lt;órdenes evaluadas si la expresión es verdadera&gt;    </a:t>
            </a:r>
          </a:p>
          <a:p>
            <a:r>
              <a:rPr lang="es-AR" dirty="0" err="1"/>
              <a:t>end</a:t>
            </a:r>
            <a:endParaRPr lang="es-AR" dirty="0"/>
          </a:p>
        </p:txBody>
      </p:sp>
      <p:sp>
        <p:nvSpPr>
          <p:cNvPr id="10" name="Rectángulo 9"/>
          <p:cNvSpPr/>
          <p:nvPr/>
        </p:nvSpPr>
        <p:spPr>
          <a:xfrm>
            <a:off x="5163127" y="2815174"/>
            <a:ext cx="6096000" cy="1477328"/>
          </a:xfrm>
          <a:prstGeom prst="rect">
            <a:avLst/>
          </a:prstGeom>
        </p:spPr>
        <p:txBody>
          <a:bodyPr>
            <a:spAutoFit/>
          </a:bodyPr>
          <a:lstStyle/>
          <a:p>
            <a:r>
              <a:rPr lang="es-AR" dirty="0" err="1"/>
              <a:t>if</a:t>
            </a:r>
            <a:r>
              <a:rPr lang="es-AR" dirty="0"/>
              <a:t> &lt;expresión&gt;     </a:t>
            </a:r>
          </a:p>
          <a:p>
            <a:r>
              <a:rPr lang="es-AR" dirty="0"/>
              <a:t> &lt;órdenes evaluadas si la expresión es verdadera&gt;     </a:t>
            </a:r>
          </a:p>
          <a:p>
            <a:r>
              <a:rPr lang="es-AR" dirty="0" err="1"/>
              <a:t>else</a:t>
            </a:r>
            <a:r>
              <a:rPr lang="es-AR" dirty="0"/>
              <a:t>      </a:t>
            </a:r>
          </a:p>
          <a:p>
            <a:r>
              <a:rPr lang="es-AR" dirty="0"/>
              <a:t>&lt;órdenes evaluadas si la expresión es falsa&gt;     </a:t>
            </a:r>
          </a:p>
          <a:p>
            <a:r>
              <a:rPr lang="es-AR" dirty="0" err="1"/>
              <a:t>end</a:t>
            </a:r>
            <a:endParaRPr lang="es-AR" dirty="0"/>
          </a:p>
        </p:txBody>
      </p:sp>
      <p:sp>
        <p:nvSpPr>
          <p:cNvPr id="11" name="Rectángulo 10"/>
          <p:cNvSpPr/>
          <p:nvPr/>
        </p:nvSpPr>
        <p:spPr>
          <a:xfrm>
            <a:off x="-73891" y="4244941"/>
            <a:ext cx="6096000" cy="2585323"/>
          </a:xfrm>
          <a:prstGeom prst="rect">
            <a:avLst/>
          </a:prstGeom>
        </p:spPr>
        <p:txBody>
          <a:bodyPr>
            <a:spAutoFit/>
          </a:bodyPr>
          <a:lstStyle/>
          <a:p>
            <a:r>
              <a:rPr lang="es-AR" dirty="0"/>
              <a:t> </a:t>
            </a:r>
            <a:r>
              <a:rPr lang="es-AR" dirty="0" err="1"/>
              <a:t>if</a:t>
            </a:r>
            <a:r>
              <a:rPr lang="es-AR" dirty="0"/>
              <a:t> &lt;expresión1&gt;      </a:t>
            </a:r>
          </a:p>
          <a:p>
            <a:r>
              <a:rPr lang="es-AR" dirty="0"/>
              <a:t>&lt;órdenes evaluadas si la expresión1 es verdadera&gt;     </a:t>
            </a:r>
          </a:p>
          <a:p>
            <a:r>
              <a:rPr lang="es-AR" dirty="0" err="1"/>
              <a:t>elseif</a:t>
            </a:r>
            <a:r>
              <a:rPr lang="es-AR" dirty="0"/>
              <a:t> &lt;expresión2&gt;      </a:t>
            </a:r>
          </a:p>
          <a:p>
            <a:r>
              <a:rPr lang="es-AR" dirty="0"/>
              <a:t>&lt;órdenes evaluadas si la expresión2 es verdadera&gt;   </a:t>
            </a:r>
          </a:p>
          <a:p>
            <a:r>
              <a:rPr lang="es-AR" dirty="0"/>
              <a:t>…….  </a:t>
            </a:r>
          </a:p>
          <a:p>
            <a:r>
              <a:rPr lang="es-AR" dirty="0" err="1"/>
              <a:t>elseif</a:t>
            </a:r>
            <a:r>
              <a:rPr lang="es-AR" dirty="0"/>
              <a:t>         …      </a:t>
            </a:r>
          </a:p>
          <a:p>
            <a:r>
              <a:rPr lang="es-AR" dirty="0"/>
              <a:t> </a:t>
            </a:r>
            <a:r>
              <a:rPr lang="es-AR" dirty="0" err="1"/>
              <a:t>else</a:t>
            </a:r>
            <a:r>
              <a:rPr lang="es-AR" dirty="0"/>
              <a:t>     </a:t>
            </a:r>
          </a:p>
          <a:p>
            <a:r>
              <a:rPr lang="es-AR" dirty="0"/>
              <a:t> &lt;órdenes evaluadas si ninguna otra expresión es verdadera&gt;     </a:t>
            </a:r>
            <a:r>
              <a:rPr lang="es-AR" dirty="0" err="1"/>
              <a:t>end</a:t>
            </a:r>
            <a:endParaRPr lang="es-AR" dirty="0"/>
          </a:p>
        </p:txBody>
      </p:sp>
    </p:spTree>
    <p:extLst>
      <p:ext uri="{BB962C8B-B14F-4D97-AF65-F5344CB8AC3E}">
        <p14:creationId xmlns:p14="http://schemas.microsoft.com/office/powerpoint/2010/main" val="21409573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212435" y="0"/>
            <a:ext cx="8636001" cy="3693319"/>
          </a:xfrm>
          <a:prstGeom prst="rect">
            <a:avLst/>
          </a:prstGeom>
        </p:spPr>
        <p:txBody>
          <a:bodyPr wrap="square">
            <a:spAutoFit/>
          </a:bodyPr>
          <a:lstStyle/>
          <a:p>
            <a:r>
              <a:rPr lang="es-AR" dirty="0"/>
              <a:t> b = 2; </a:t>
            </a:r>
          </a:p>
          <a:p>
            <a:r>
              <a:rPr lang="es-AR" dirty="0"/>
              <a:t> 	</a:t>
            </a:r>
            <a:r>
              <a:rPr lang="es-AR" dirty="0" err="1"/>
              <a:t>if</a:t>
            </a:r>
            <a:r>
              <a:rPr lang="es-AR" dirty="0"/>
              <a:t> b == 0 % ponemos == porque no es una asignación sino una expresión lógica </a:t>
            </a:r>
          </a:p>
          <a:p>
            <a:r>
              <a:rPr lang="es-AR" dirty="0"/>
              <a:t> 		</a:t>
            </a:r>
            <a:r>
              <a:rPr lang="es-AR" dirty="0" err="1"/>
              <a:t>disp</a:t>
            </a:r>
            <a:r>
              <a:rPr lang="es-AR" dirty="0"/>
              <a:t> ('b vale 0')  </a:t>
            </a:r>
          </a:p>
          <a:p>
            <a:r>
              <a:rPr lang="es-AR" dirty="0"/>
              <a:t>	</a:t>
            </a:r>
            <a:r>
              <a:rPr lang="es-AR" dirty="0" err="1"/>
              <a:t>elseif</a:t>
            </a:r>
            <a:r>
              <a:rPr lang="es-AR" dirty="0"/>
              <a:t> b == 1    </a:t>
            </a:r>
          </a:p>
          <a:p>
            <a:r>
              <a:rPr lang="es-AR" dirty="0"/>
              <a:t>		</a:t>
            </a:r>
            <a:r>
              <a:rPr lang="es-AR" dirty="0" err="1"/>
              <a:t>disp</a:t>
            </a:r>
            <a:r>
              <a:rPr lang="es-AR" dirty="0"/>
              <a:t> ('b vale 1')  </a:t>
            </a:r>
          </a:p>
          <a:p>
            <a:r>
              <a:rPr lang="es-AR" dirty="0"/>
              <a:t>	</a:t>
            </a:r>
            <a:r>
              <a:rPr lang="es-AR" dirty="0" err="1"/>
              <a:t>elseif</a:t>
            </a:r>
            <a:r>
              <a:rPr lang="es-AR" dirty="0"/>
              <a:t> b == 2   </a:t>
            </a:r>
          </a:p>
          <a:p>
            <a:r>
              <a:rPr lang="es-AR" dirty="0"/>
              <a:t>		</a:t>
            </a:r>
            <a:r>
              <a:rPr lang="es-AR" dirty="0" err="1"/>
              <a:t>disp</a:t>
            </a:r>
            <a:r>
              <a:rPr lang="es-AR" dirty="0"/>
              <a:t> ('b vale 2')  </a:t>
            </a:r>
          </a:p>
          <a:p>
            <a:r>
              <a:rPr lang="es-AR" dirty="0"/>
              <a:t>	</a:t>
            </a:r>
            <a:r>
              <a:rPr lang="es-AR" dirty="0" err="1"/>
              <a:t>elseif</a:t>
            </a:r>
            <a:r>
              <a:rPr lang="es-AR" dirty="0"/>
              <a:t> b == 3   </a:t>
            </a:r>
          </a:p>
          <a:p>
            <a:r>
              <a:rPr lang="es-AR" dirty="0"/>
              <a:t>		</a:t>
            </a:r>
            <a:r>
              <a:rPr lang="es-AR" dirty="0" err="1"/>
              <a:t>disp</a:t>
            </a:r>
            <a:r>
              <a:rPr lang="es-AR" dirty="0"/>
              <a:t> ('b vale 3')  </a:t>
            </a:r>
          </a:p>
          <a:p>
            <a:r>
              <a:rPr lang="es-AR" dirty="0"/>
              <a:t>	</a:t>
            </a:r>
            <a:r>
              <a:rPr lang="es-AR" dirty="0" err="1"/>
              <a:t>else</a:t>
            </a:r>
            <a:r>
              <a:rPr lang="es-AR" dirty="0"/>
              <a:t>   </a:t>
            </a:r>
          </a:p>
          <a:p>
            <a:r>
              <a:rPr lang="es-AR" dirty="0"/>
              <a:t>		</a:t>
            </a:r>
            <a:r>
              <a:rPr lang="es-AR" dirty="0" err="1"/>
              <a:t>disp</a:t>
            </a:r>
            <a:r>
              <a:rPr lang="es-AR" dirty="0"/>
              <a:t> ('b no vale ni 0 ni 1 ni 2 ni 3')  </a:t>
            </a:r>
          </a:p>
          <a:p>
            <a:r>
              <a:rPr lang="es-AR" dirty="0" err="1"/>
              <a:t>end</a:t>
            </a:r>
            <a:r>
              <a:rPr lang="es-AR" dirty="0"/>
              <a:t>  </a:t>
            </a:r>
          </a:p>
          <a:p>
            <a:r>
              <a:rPr lang="es-AR" dirty="0">
                <a:sym typeface="Wingdings" panose="05000000000000000000" pitchFamily="2" charset="2"/>
              </a:rPr>
              <a:t></a:t>
            </a:r>
            <a:r>
              <a:rPr lang="es-AR" dirty="0"/>
              <a:t>b vale 2  % es lo que devuelve por pantalla</a:t>
            </a:r>
          </a:p>
        </p:txBody>
      </p:sp>
      <p:sp>
        <p:nvSpPr>
          <p:cNvPr id="5" name="Rectángulo 4"/>
          <p:cNvSpPr/>
          <p:nvPr/>
        </p:nvSpPr>
        <p:spPr>
          <a:xfrm>
            <a:off x="0" y="3909445"/>
            <a:ext cx="12192000" cy="646331"/>
          </a:xfrm>
          <a:prstGeom prst="rect">
            <a:avLst/>
          </a:prstGeom>
        </p:spPr>
        <p:txBody>
          <a:bodyPr wrap="square">
            <a:spAutoFit/>
          </a:bodyPr>
          <a:lstStyle/>
          <a:p>
            <a:r>
              <a:rPr lang="es-AR" b="1" dirty="0"/>
              <a:t>SENTENCIA BREAK: </a:t>
            </a:r>
            <a:r>
              <a:rPr lang="es-AR" dirty="0"/>
              <a:t>Si queremos que en un momento dado termine la ejecución de un bucle </a:t>
            </a:r>
            <a:r>
              <a:rPr lang="es-AR" dirty="0" err="1"/>
              <a:t>for</a:t>
            </a:r>
            <a:r>
              <a:rPr lang="es-AR" dirty="0"/>
              <a:t> o un bucle </a:t>
            </a:r>
            <a:r>
              <a:rPr lang="es-AR" dirty="0" err="1"/>
              <a:t>while</a:t>
            </a:r>
            <a:r>
              <a:rPr lang="es-AR" dirty="0"/>
              <a:t> usaremos break.</a:t>
            </a:r>
          </a:p>
        </p:txBody>
      </p:sp>
    </p:spTree>
    <p:extLst>
      <p:ext uri="{BB962C8B-B14F-4D97-AF65-F5344CB8AC3E}">
        <p14:creationId xmlns:p14="http://schemas.microsoft.com/office/powerpoint/2010/main" val="251936315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758</TotalTime>
  <Words>2528</Words>
  <Application>Microsoft Office PowerPoint</Application>
  <PresentationFormat>Panorámica</PresentationFormat>
  <Paragraphs>264</Paragraphs>
  <Slides>16</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16</vt:i4>
      </vt:variant>
    </vt:vector>
  </HeadingPairs>
  <TitlesOfParts>
    <vt:vector size="22" baseType="lpstr">
      <vt:lpstr>Arial</vt:lpstr>
      <vt:lpstr>Calibri</vt:lpstr>
      <vt:lpstr>Calibri Light</vt:lpstr>
      <vt:lpstr>Courier New</vt:lpstr>
      <vt:lpstr>Wingdings</vt:lpstr>
      <vt:lpstr>Tema de Office</vt:lpstr>
      <vt:lpstr>Introducción a Matlab</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Introducción a Matlab</dc:title>
  <dc:creator>simaf</dc:creator>
  <cp:lastModifiedBy>Odeluigi</cp:lastModifiedBy>
  <cp:revision>32</cp:revision>
  <dcterms:created xsi:type="dcterms:W3CDTF">2023-08-08T19:32:13Z</dcterms:created>
  <dcterms:modified xsi:type="dcterms:W3CDTF">2026-07-06T17:18:02Z</dcterms:modified>
</cp:coreProperties>
</file>